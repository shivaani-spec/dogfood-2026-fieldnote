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d9bd6e176b4d47" /><Relationship Type="http://schemas.openxmlformats.org/officeDocument/2006/relationships/extended-properties" Target="/docProps/app.xml" Id="R41f2a83a27dd46d6" /><Relationship Type="http://schemas.openxmlformats.org/officeDocument/2006/relationships/officeDocument" Target="/ppt/presentation.xml" Id="R2888cf3c671044cd" /></Relationships>
</file>

<file path=ppt/presentation.xml><?xml version="1.0" encoding="utf-8"?>
<p:presentation xmlns:p="http://schemas.openxmlformats.org/presentationml/2006/main">
  <p:sldMasterIdLst>
    <p:sldMasterId xmlns:r="http://schemas.openxmlformats.org/officeDocument/2006/relationships" id="2147483648" r:id="R122d1d9c05eb4eeb"/>
  </p:sldMasterIdLst>
  <p:notesMasterIdLst>
    <p:notesMasterId xmlns:r="http://schemas.openxmlformats.org/officeDocument/2006/relationships" r:id="Rbf6f212cde3942fb"/>
  </p:notesMasterIdLst>
  <p:sldIdLst>
    <p:sldId xmlns:r="http://schemas.openxmlformats.org/officeDocument/2006/relationships" id="256" r:id="R78d2d673593c464f"/>
    <p:sldId xmlns:r="http://schemas.openxmlformats.org/officeDocument/2006/relationships" id="257" r:id="Rbc6cd687e9f24a8e"/>
    <p:sldId xmlns:r="http://schemas.openxmlformats.org/officeDocument/2006/relationships" id="258" r:id="R6dc72f127ec24b55"/>
    <p:sldId xmlns:r="http://schemas.openxmlformats.org/officeDocument/2006/relationships" id="259" r:id="Raf03661b763648d7"/>
    <p:sldId xmlns:r="http://schemas.openxmlformats.org/officeDocument/2006/relationships" id="260" r:id="R10ba9ebfc1ac4c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bef31d6ec247af" /><Relationship Type="http://schemas.openxmlformats.org/officeDocument/2006/relationships/slideMaster" Target="/ppt/slideMasters/slideMaster1.xml" Id="R122d1d9c05eb4eeb" /><Relationship Type="http://schemas.openxmlformats.org/officeDocument/2006/relationships/notesMaster" Target="/ppt/notesMasters/notesMaster1.xml" Id="Rbf6f212cde3942fb" /><Relationship Type="http://schemas.openxmlformats.org/officeDocument/2006/relationships/presProps" Target="/ppt/presProps.xml" Id="Rbbea64c7433d41bb" /><Relationship Type="http://schemas.openxmlformats.org/officeDocument/2006/relationships/tableStyles" Target="/ppt/tableStyles.xml" Id="R4630e6623bf44021" /><Relationship Type="http://schemas.openxmlformats.org/officeDocument/2006/relationships/slide" Target="/ppt/slides/slide1.xml" Id="R78d2d673593c464f" /><Relationship Type="http://schemas.openxmlformats.org/officeDocument/2006/relationships/slide" Target="/ppt/slides/slide2.xml" Id="Rbc6cd687e9f24a8e" /><Relationship Type="http://schemas.openxmlformats.org/officeDocument/2006/relationships/slide" Target="/ppt/slides/slide3.xml" Id="R6dc72f127ec24b55" /><Relationship Type="http://schemas.openxmlformats.org/officeDocument/2006/relationships/slide" Target="/ppt/slides/slide4.xml" Id="Raf03661b763648d7" /><Relationship Type="http://schemas.openxmlformats.org/officeDocument/2006/relationships/slide" Target="/ppt/slides/slide5.xml" Id="R10ba9ebfc1ac4c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28fa3288bb40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33ca191faa45e1" /><Relationship Type="http://schemas.openxmlformats.org/officeDocument/2006/relationships/notesMaster" Target="/ppt/notesMasters/notesMaster1.xml" Id="R72782f0c68b14d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4b9e1362e94f05" /><Relationship Type="http://schemas.openxmlformats.org/officeDocument/2006/relationships/notesMaster" Target="/ppt/notesMasters/notesMaster1.xml" Id="R86c3aefb418c42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396441d4364d8c" /><Relationship Type="http://schemas.openxmlformats.org/officeDocument/2006/relationships/notesMaster" Target="/ppt/notesMasters/notesMaster1.xml" Id="Re190992bc78045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90c1f1ce1e4e8f" /><Relationship Type="http://schemas.openxmlformats.org/officeDocument/2006/relationships/notesMaster" Target="/ppt/notesMasters/notesMaster1.xml" Id="Rf3606d4b58a146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96282d35cb4f3c" /><Relationship Type="http://schemas.openxmlformats.org/officeDocument/2006/relationships/notesMaster" Target="/ppt/notesMasters/notesMaster1.xml" Id="Rae6d4da2cc4d45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Fieldnote is a local-first hackathon portal for event organizers, participants, judges and public visitors. The repository contains the app, fixture data, checker configuration and acceptance report. Source: https://dogfoodhack.com/spec/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seeded gallery loads the official DOGFOOD fixtures. Organizers configure an event, participants form teams and submit before the configured deadline, judges score assigned projects, and organizers publish results after the review and voting window. Source: https://dogfoodhack.com/spec/ and the repository fixtures.json.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Normalization operates per criterion. It adjusts for each judge's mean and score spread, shrinks the adjustment by n/(n+5), and clips scores to the 1–5 range. For low-spread judges, the app shifts toward the event mean without dividing by a near-zero deviation. Raw and adjusted results stay visible to organizers. This is a documented heuristic, not universal statistical ground truth. See JUDGING.md.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Dockerfile copies the app, web assets, fixtures and OpenAPI spec into a Python 3.12 slim image. Compose binds the app to loopback and mounts a named SQLite volume. The portal makes no hosted-service calls at runtime. The direct Python server and checker were exercised locally. The Compose path was not run because Docker was not installed on the build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seven checks passed using the official run.py and .dogfood.toml. T1 checks public access, fixture visibility and refusal after the fixture deadline. T2 checks own-score access, peer-score isolation, participant role isolation and CSV export. The README and config claim only T1 and T2. Source: https://dogfoodhack.com/spec/ and the committed acceptance-report.txt.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47ab596b094f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33f78c24c74e7a" /><Relationship Type="http://schemas.openxmlformats.org/officeDocument/2006/relationships/slideLayout" Target="/ppt/slideLayouts/slideLayout1.xml" Id="R34ffd3145ee546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ffd3145ee546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d6383d42d1439f" /><Relationship Type="http://schemas.openxmlformats.org/officeDocument/2006/relationships/notesSlide" Target="/ppt/notesSlides/notesSlide1.xml" Id="R70386a7f3c754f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307abb5f3c47e8" /><Relationship Type="http://schemas.openxmlformats.org/officeDocument/2006/relationships/notesSlide" Target="/ppt/notesSlides/notesSlide2.xml" Id="R4e9db653075e4b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e3e5d1e08b4f4b" /><Relationship Type="http://schemas.openxmlformats.org/officeDocument/2006/relationships/notesSlide" Target="/ppt/notesSlides/notesSlide3.xml" Id="R43ecceb8908042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ed5091a6374770" /><Relationship Type="http://schemas.openxmlformats.org/officeDocument/2006/relationships/notesSlide" Target="/ppt/notesSlides/notesSlide4.xml" Id="R2bf20303f59441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95ec00d9c74c6d" /><Relationship Type="http://schemas.openxmlformats.org/officeDocument/2006/relationships/notesSlide" Target="/ppt/notesSlides/notesSlide5.xml" Id="Rbdb5fa750d954031" /></Relationships>
</file>

<file path=ppt/slides/slide1.xml><?xml version="1.0" encoding="utf-8"?>
<p:sld xmlns:p="http://schemas.openxmlformats.org/presentationml/2006/main">
  <p:cSld>
    <p:bg>
      <p:bgPr>
        <a:solidFill xmlns:a="http://schemas.openxmlformats.org/drawingml/2006/main">
          <a:srgbClr val="1523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C69E16-A93C-4C31-B162-C570EB8DC31B}"/>
              </a:ext>
            </a:extLst>
          </p:cNvPr>
          <p:cNvSpPr>
            <a:spLocks xmlns:a="http://schemas.openxmlformats.org/drawingml/2006/main" noGrp="1"/>
          </p:cNvSpPr>
          <p:nvPr/>
        </p:nvSpPr>
        <p:spPr>
          <a:xfrm xmlns:a="http://schemas.openxmlformats.org/drawingml/2006/main">
            <a:off x="819150" y="1638300"/>
            <a:ext cx="95250" cy="1219200"/>
          </a:xfrm>
          <a:prstGeom xmlns:a="http://schemas.openxmlformats.org/drawingml/2006/main" prst="rect">
            <a:avLst/>
          </a:prstGeom>
          <a:solidFill xmlns:a="http://schemas.openxmlformats.org/drawingml/2006/main">
            <a:srgbClr val="B9D99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8C342F-DEDF-4D89-BA7F-F717EFAA3DB9}"/>
              </a:ext>
            </a:extLst>
          </p:cNvPr>
          <p:cNvSpPr>
            <a:spLocks xmlns:a="http://schemas.openxmlformats.org/drawingml/2006/main" noGrp="1"/>
          </p:cNvSpPr>
          <p:nvPr/>
        </p:nvSpPr>
        <p:spPr>
          <a:xfrm xmlns:a="http://schemas.openxmlformats.org/drawingml/2006/main">
            <a:off x="1181100" y="16573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9D993"/>
                </a:solidFill>
                <a:latin typeface="Arial"/>
                <a:ea typeface="Arial"/>
                <a:cs typeface="Arial"/>
              </a:defRPr>
            </a:pPr>
            <a:r>
              <a:rPr sz="1350" b="1">
                <a:solidFill>
                  <a:srgbClr val="B9D993"/>
                </a:solidFill>
                <a:latin typeface="Arial"/>
                <a:ea typeface="Arial"/>
                <a:cs typeface="Arial"/>
              </a:rPr>
              <a:t>DOGFOOD 2026  /  PLATFORM SUBMISSION</a:t>
            </a:r>
          </a:p>
        </p:txBody>
      </p:sp>
      <p:sp>
        <p:nvSpPr>
          <p:cNvPr id="3" name="">
            <a:extLst xmlns:a="http://schemas.openxmlformats.org/drawingml/2006/main">
              <a:ext uri="{FF2B5EF4-FFF2-40B4-BE49-F238E27FC236}">
                <a16:creationId xmlns:a16="http://schemas.microsoft.com/office/drawing/2014/main" id="{A1400882-F622-4649-BF95-CE6556A7E5D6}"/>
              </a:ext>
            </a:extLst>
          </p:cNvPr>
          <p:cNvSpPr>
            <a:spLocks xmlns:a="http://schemas.openxmlformats.org/drawingml/2006/main" noGrp="1"/>
          </p:cNvSpPr>
          <p:nvPr/>
        </p:nvSpPr>
        <p:spPr>
          <a:xfrm xmlns:a="http://schemas.openxmlformats.org/drawingml/2006/main">
            <a:off x="1123950" y="2209800"/>
            <a:ext cx="9810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FFFEFA"/>
                </a:solidFill>
                <a:latin typeface="Arial"/>
                <a:ea typeface="Arial"/>
                <a:cs typeface="Arial"/>
              </a:defRPr>
            </a:pPr>
            <a:r>
              <a:rPr sz="6300" b="1">
                <a:solidFill>
                  <a:srgbClr val="FFFEFA"/>
                </a:solidFill>
                <a:latin typeface="Arial"/>
                <a:ea typeface="Arial"/>
                <a:cs typeface="Arial"/>
              </a:rPr>
              <a:t>Fieldnote</a:t>
            </a:r>
          </a:p>
        </p:txBody>
      </p:sp>
      <p:sp>
        <p:nvSpPr>
          <p:cNvPr id="4" name="">
            <a:extLst xmlns:a="http://schemas.openxmlformats.org/drawingml/2006/main">
              <a:ext uri="{FF2B5EF4-FFF2-40B4-BE49-F238E27FC236}">
                <a16:creationId xmlns:a16="http://schemas.microsoft.com/office/drawing/2014/main" id="{24D6712B-0D67-4EDD-8E73-79493FA37B63}"/>
              </a:ext>
            </a:extLst>
          </p:cNvPr>
          <p:cNvSpPr>
            <a:spLocks xmlns:a="http://schemas.openxmlformats.org/drawingml/2006/main" noGrp="1"/>
          </p:cNvSpPr>
          <p:nvPr/>
        </p:nvSpPr>
        <p:spPr>
          <a:xfrm xmlns:a="http://schemas.openxmlformats.org/drawingml/2006/main">
            <a:off x="1181100" y="3333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EFA"/>
                </a:solidFill>
                <a:latin typeface="Arial"/>
                <a:ea typeface="Arial"/>
                <a:cs typeface="Arial"/>
              </a:defRPr>
            </a:pPr>
            <a:r>
              <a:rPr sz="2325" b="0">
                <a:solidFill>
                  <a:srgbClr val="FFFEFA"/>
                </a:solidFill>
                <a:latin typeface="Arial"/>
                <a:ea typeface="Arial"/>
                <a:cs typeface="Arial"/>
              </a:rPr>
              <a:t>Submission and judging, in one local workspace</a:t>
            </a:r>
          </a:p>
        </p:txBody>
      </p:sp>
      <p:sp>
        <p:nvSpPr>
          <p:cNvPr id="5" name="">
            <a:extLst xmlns:a="http://schemas.openxmlformats.org/drawingml/2006/main">
              <a:ext uri="{FF2B5EF4-FFF2-40B4-BE49-F238E27FC236}">
                <a16:creationId xmlns:a16="http://schemas.microsoft.com/office/drawing/2014/main" id="{62076030-DBF8-4421-9BCD-57B4B8D58911}"/>
              </a:ext>
            </a:extLst>
          </p:cNvPr>
          <p:cNvSpPr>
            <a:spLocks xmlns:a="http://schemas.openxmlformats.org/drawingml/2006/main" noGrp="1"/>
          </p:cNvSpPr>
          <p:nvPr/>
        </p:nvSpPr>
        <p:spPr>
          <a:xfrm xmlns:a="http://schemas.openxmlformats.org/drawingml/2006/main">
            <a:off x="1181100" y="4352925"/>
            <a:ext cx="9810750" cy="9525"/>
          </a:xfrm>
          <a:prstGeom xmlns:a="http://schemas.openxmlformats.org/drawingml/2006/main" prst="rect">
            <a:avLst/>
          </a:prstGeom>
          <a:solidFill xmlns:a="http://schemas.openxmlformats.org/drawingml/2006/main">
            <a:srgbClr val="40504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17A4DC-4972-41D9-8204-35962E3ABE3E}"/>
              </a:ext>
            </a:extLst>
          </p:cNvPr>
          <p:cNvSpPr>
            <a:spLocks xmlns:a="http://schemas.openxmlformats.org/drawingml/2006/main" noGrp="1"/>
          </p:cNvSpPr>
          <p:nvPr/>
        </p:nvSpPr>
        <p:spPr>
          <a:xfrm xmlns:a="http://schemas.openxmlformats.org/drawingml/2006/main">
            <a:off x="1181100" y="4667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5DBD0"/>
                </a:solidFill>
                <a:latin typeface="Arial"/>
                <a:ea typeface="Arial"/>
                <a:cs typeface="Arial"/>
              </a:defRPr>
            </a:pPr>
            <a:r>
              <a:rPr sz="1350" b="1">
                <a:solidFill>
                  <a:srgbClr val="D5DBD0"/>
                </a:solidFill>
                <a:latin typeface="Arial"/>
                <a:ea typeface="Arial"/>
                <a:cs typeface="Arial"/>
              </a:rPr>
              <a:t>PYTHON + SQLITE</a:t>
            </a:r>
          </a:p>
        </p:txBody>
      </p:sp>
      <p:sp>
        <p:nvSpPr>
          <p:cNvPr id="7" name="">
            <a:extLst xmlns:a="http://schemas.openxmlformats.org/drawingml/2006/main">
              <a:ext uri="{FF2B5EF4-FFF2-40B4-BE49-F238E27FC236}">
                <a16:creationId xmlns:a16="http://schemas.microsoft.com/office/drawing/2014/main" id="{5CFE7E3E-A377-4BDB-9A17-9ACC8164D39C}"/>
              </a:ext>
            </a:extLst>
          </p:cNvPr>
          <p:cNvSpPr>
            <a:spLocks xmlns:a="http://schemas.openxmlformats.org/drawingml/2006/main" noGrp="1"/>
          </p:cNvSpPr>
          <p:nvPr/>
        </p:nvSpPr>
        <p:spPr>
          <a:xfrm xmlns:a="http://schemas.openxmlformats.org/drawingml/2006/main">
            <a:off x="4286250" y="46672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5DBD0"/>
                </a:solidFill>
                <a:latin typeface="Arial"/>
                <a:ea typeface="Arial"/>
                <a:cs typeface="Arial"/>
              </a:defRPr>
            </a:pPr>
            <a:r>
              <a:rPr sz="1350" b="1">
                <a:solidFill>
                  <a:srgbClr val="D5DBD0"/>
                </a:solidFill>
                <a:latin typeface="Arial"/>
                <a:ea typeface="Arial"/>
                <a:cs typeface="Arial"/>
              </a:rPr>
              <a:t>SELF-HOSTED</a:t>
            </a:r>
          </a:p>
        </p:txBody>
      </p:sp>
      <p:sp>
        <p:nvSpPr>
          <p:cNvPr id="8" name="">
            <a:extLst xmlns:a="http://schemas.openxmlformats.org/drawingml/2006/main">
              <a:ext uri="{FF2B5EF4-FFF2-40B4-BE49-F238E27FC236}">
                <a16:creationId xmlns:a16="http://schemas.microsoft.com/office/drawing/2014/main" id="{CB2F096B-A2F0-40A9-BDD0-82DACB4BE3CE}"/>
              </a:ext>
            </a:extLst>
          </p:cNvPr>
          <p:cNvSpPr>
            <a:spLocks xmlns:a="http://schemas.openxmlformats.org/drawingml/2006/main" noGrp="1"/>
          </p:cNvSpPr>
          <p:nvPr/>
        </p:nvSpPr>
        <p:spPr>
          <a:xfrm xmlns:a="http://schemas.openxmlformats.org/drawingml/2006/main">
            <a:off x="7667625" y="46672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5DBD0"/>
                </a:solidFill>
                <a:latin typeface="Arial"/>
                <a:ea typeface="Arial"/>
                <a:cs typeface="Arial"/>
              </a:defRPr>
            </a:pPr>
            <a:r>
              <a:rPr sz="1350" b="1">
                <a:solidFill>
                  <a:srgbClr val="D5DBD0"/>
                </a:solidFill>
                <a:latin typeface="Arial"/>
                <a:ea typeface="Arial"/>
                <a:cs typeface="Arial"/>
              </a:rPr>
              <a:t>MIT LICENSE</a:t>
            </a:r>
          </a:p>
        </p:txBody>
      </p:sp>
      <p:sp>
        <p:nvSpPr>
          <p:cNvPr id="9" name="">
            <a:extLst xmlns:a="http://schemas.openxmlformats.org/drawingml/2006/main">
              <a:ext uri="{FF2B5EF4-FFF2-40B4-BE49-F238E27FC236}">
                <a16:creationId xmlns:a16="http://schemas.microsoft.com/office/drawing/2014/main" id="{DA23BF57-A06A-4141-8D80-4D717D565BCE}"/>
              </a:ext>
            </a:extLst>
          </p:cNvPr>
          <p:cNvSpPr>
            <a:spLocks xmlns:a="http://schemas.openxmlformats.org/drawingml/2006/main" noGrp="1"/>
          </p:cNvSpPr>
          <p:nvPr/>
        </p:nvSpPr>
        <p:spPr>
          <a:xfrm xmlns:a="http://schemas.openxmlformats.org/drawingml/2006/main">
            <a:off x="1181100" y="577215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2B8"/>
                </a:solidFill>
                <a:latin typeface="Arial"/>
                <a:ea typeface="Arial"/>
                <a:cs typeface="Arial"/>
              </a:defRPr>
            </a:pPr>
            <a:r>
              <a:rPr sz="1500" b="0">
                <a:solidFill>
                  <a:srgbClr val="B9C2B8"/>
                </a:solidFill>
                <a:latin typeface="Arial"/>
                <a:ea typeface="Arial"/>
                <a:cs typeface="Arial"/>
              </a:rPr>
              <a:t>A working portal built for the DOGFOOD 2026 challenge</a:t>
            </a:r>
          </a:p>
        </p:txBody>
      </p:sp>
    </p:spTree>
    <p:extLst>
      <p:ext uri="{BB962C8B-B14F-4D97-AF65-F5344CB8AC3E}">
        <p14:creationId xmlns:p14="http://schemas.microsoft.com/office/powerpoint/2010/main" val="1127691505"/>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BC76AA4-6DF0-478C-B1C2-EE729F345E99}"/>
              </a:ext>
            </a:extLst>
          </p:cNvPr>
          <p:cNvSpPr>
            <a:spLocks xmlns:a="http://schemas.openxmlformats.org/drawingml/2006/main" noGrp="1"/>
          </p:cNvSpPr>
          <p:nvPr/>
        </p:nvSpPr>
        <p:spPr>
          <a:xfrm xmlns:a="http://schemas.openxmlformats.org/drawingml/2006/main">
            <a:off x="723900" y="5143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41D"/>
                </a:solidFill>
                <a:latin typeface="Arial"/>
                <a:ea typeface="Arial"/>
                <a:cs typeface="Arial"/>
              </a:defRPr>
            </a:pPr>
            <a:r>
              <a:rPr sz="3600" b="1">
                <a:solidFill>
                  <a:srgbClr val="18241D"/>
                </a:solidFill>
                <a:latin typeface="Arial"/>
                <a:ea typeface="Arial"/>
                <a:cs typeface="Arial"/>
              </a:rPr>
              <a:t>One workflow from intake to results</a:t>
            </a:r>
          </a:p>
        </p:txBody>
      </p:sp>
      <p:sp>
        <p:nvSpPr>
          <p:cNvPr id="2" name="">
            <a:extLst xmlns:a="http://schemas.openxmlformats.org/drawingml/2006/main">
              <a:ext uri="{FF2B5EF4-FFF2-40B4-BE49-F238E27FC236}">
                <a16:creationId xmlns:a16="http://schemas.microsoft.com/office/drawing/2014/main" id="{0A9CEDA8-0A1E-472E-A202-60BF42F3A336}"/>
              </a:ext>
            </a:extLst>
          </p:cNvPr>
          <p:cNvSpPr>
            <a:spLocks xmlns:a="http://schemas.openxmlformats.org/drawingml/2006/main" noGrp="1"/>
          </p:cNvSpPr>
          <p:nvPr/>
        </p:nvSpPr>
        <p:spPr>
          <a:xfrm xmlns:a="http://schemas.openxmlformats.org/drawingml/2006/main">
            <a:off x="762000" y="1219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796F"/>
                </a:solidFill>
                <a:latin typeface="Arial"/>
                <a:ea typeface="Arial"/>
                <a:cs typeface="Arial"/>
              </a:defRPr>
            </a:pPr>
            <a:r>
              <a:rPr sz="1800" b="0">
                <a:solidFill>
                  <a:srgbClr val="74796F"/>
                </a:solidFill>
                <a:latin typeface="Arial"/>
                <a:ea typeface="Arial"/>
                <a:cs typeface="Arial"/>
              </a:rPr>
              <a:t>Each role sees the work they need, with event deadlines enforced in the API.</a:t>
            </a:r>
          </a:p>
        </p:txBody>
      </p:sp>
      <p:sp>
        <p:nvSpPr>
          <p:cNvPr id="3" name="">
            <a:extLst xmlns:a="http://schemas.openxmlformats.org/drawingml/2006/main">
              <a:ext uri="{FF2B5EF4-FFF2-40B4-BE49-F238E27FC236}">
                <a16:creationId xmlns:a16="http://schemas.microsoft.com/office/drawing/2014/main" id="{06E1ED75-6A84-4901-8160-CF00EE9A4FFE}"/>
              </a:ext>
            </a:extLst>
          </p:cNvPr>
          <p:cNvSpPr>
            <a:spLocks xmlns:a="http://schemas.openxmlformats.org/drawingml/2006/main" noGrp="1"/>
          </p:cNvSpPr>
          <p:nvPr/>
        </p:nvSpPr>
        <p:spPr>
          <a:xfrm xmlns:a="http://schemas.openxmlformats.org/drawingml/2006/main">
            <a:off x="1438275" y="2305050"/>
            <a:ext cx="9315450" cy="2857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23D23F-40EC-4BEC-8B9A-0760B0550748}"/>
              </a:ext>
            </a:extLst>
          </p:cNvPr>
          <p:cNvSpPr>
            <a:spLocks xmlns:a="http://schemas.openxmlformats.org/drawingml/2006/main" noGrp="1"/>
          </p:cNvSpPr>
          <p:nvPr/>
        </p:nvSpPr>
        <p:spPr>
          <a:xfrm xmlns:a="http://schemas.openxmlformats.org/drawingml/2006/main">
            <a:off x="962025" y="2209800"/>
            <a:ext cx="200025" cy="200025"/>
          </a:xfrm>
          <a:prstGeom xmlns:a="http://schemas.openxmlformats.org/drawingml/2006/main" prst="rect">
            <a:avLst/>
          </a:prstGeom>
          <a:solidFill xmlns:a="http://schemas.openxmlformats.org/drawingml/2006/main">
            <a:srgbClr val="526D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9C547D-224A-4F8F-9382-B9544476FA7C}"/>
              </a:ext>
            </a:extLst>
          </p:cNvPr>
          <p:cNvSpPr>
            <a:spLocks xmlns:a="http://schemas.openxmlformats.org/drawingml/2006/main" noGrp="1"/>
          </p:cNvSpPr>
          <p:nvPr/>
        </p:nvSpPr>
        <p:spPr>
          <a:xfrm xmlns:a="http://schemas.openxmlformats.org/drawingml/2006/main">
            <a:off x="895350" y="27241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526D3C"/>
                </a:solidFill>
                <a:latin typeface="Arial"/>
                <a:ea typeface="Arial"/>
                <a:cs typeface="Arial"/>
              </a:defRPr>
            </a:pPr>
            <a:r>
              <a:rPr sz="4200" b="1">
                <a:solidFill>
                  <a:srgbClr val="526D3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E4DA8C0-D3BC-42D7-BD7A-021E91C4B8E3}"/>
              </a:ext>
            </a:extLst>
          </p:cNvPr>
          <p:cNvSpPr>
            <a:spLocks xmlns:a="http://schemas.openxmlformats.org/drawingml/2006/main" noGrp="1"/>
          </p:cNvSpPr>
          <p:nvPr/>
        </p:nvSpPr>
        <p:spPr>
          <a:xfrm xmlns:a="http://schemas.openxmlformats.org/drawingml/2006/main">
            <a:off x="895350" y="35528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41D"/>
                </a:solidFill>
                <a:latin typeface="Arial"/>
                <a:ea typeface="Arial"/>
                <a:cs typeface="Arial"/>
              </a:defRPr>
            </a:pPr>
            <a:r>
              <a:rPr sz="2250" b="1">
                <a:solidFill>
                  <a:srgbClr val="18241D"/>
                </a:solidFill>
                <a:latin typeface="Arial"/>
                <a:ea typeface="Arial"/>
                <a:cs typeface="Arial"/>
              </a:rPr>
              <a:t>Configure</a:t>
            </a:r>
          </a:p>
        </p:txBody>
      </p:sp>
      <p:sp>
        <p:nvSpPr>
          <p:cNvPr id="7" name="">
            <a:extLst xmlns:a="http://schemas.openxmlformats.org/drawingml/2006/main">
              <a:ext uri="{FF2B5EF4-FFF2-40B4-BE49-F238E27FC236}">
                <a16:creationId xmlns:a16="http://schemas.microsoft.com/office/drawing/2014/main" id="{15EE8795-288A-4779-A2B0-2E7D45A0B1E3}"/>
              </a:ext>
            </a:extLst>
          </p:cNvPr>
          <p:cNvSpPr>
            <a:spLocks xmlns:a="http://schemas.openxmlformats.org/drawingml/2006/main" noGrp="1"/>
          </p:cNvSpPr>
          <p:nvPr/>
        </p:nvSpPr>
        <p:spPr>
          <a:xfrm xmlns:a="http://schemas.openxmlformats.org/drawingml/2006/main">
            <a:off x="895350" y="4067175"/>
            <a:ext cx="228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Dates, tracks, rubric</a:t>
            </a:r>
          </a:p>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and submission questions</a:t>
            </a:r>
          </a:p>
        </p:txBody>
      </p:sp>
      <p:sp>
        <p:nvSpPr>
          <p:cNvPr id="8" name="">
            <a:extLst xmlns:a="http://schemas.openxmlformats.org/drawingml/2006/main">
              <a:ext uri="{FF2B5EF4-FFF2-40B4-BE49-F238E27FC236}">
                <a16:creationId xmlns:a16="http://schemas.microsoft.com/office/drawing/2014/main" id="{77E052DA-6C80-4212-B004-5B1DA8654E06}"/>
              </a:ext>
            </a:extLst>
          </p:cNvPr>
          <p:cNvSpPr>
            <a:spLocks xmlns:a="http://schemas.openxmlformats.org/drawingml/2006/main" noGrp="1"/>
          </p:cNvSpPr>
          <p:nvPr/>
        </p:nvSpPr>
        <p:spPr>
          <a:xfrm xmlns:a="http://schemas.openxmlformats.org/drawingml/2006/main">
            <a:off x="3667125" y="2209800"/>
            <a:ext cx="200025" cy="200025"/>
          </a:xfrm>
          <a:prstGeom xmlns:a="http://schemas.openxmlformats.org/drawingml/2006/main" prst="rect">
            <a:avLst/>
          </a:prstGeom>
          <a:solidFill xmlns:a="http://schemas.openxmlformats.org/drawingml/2006/main">
            <a:srgbClr val="526D3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8DEA29-60DC-45A5-96CE-52065C512CE2}"/>
              </a:ext>
            </a:extLst>
          </p:cNvPr>
          <p:cNvSpPr>
            <a:spLocks xmlns:a="http://schemas.openxmlformats.org/drawingml/2006/main" noGrp="1"/>
          </p:cNvSpPr>
          <p:nvPr/>
        </p:nvSpPr>
        <p:spPr>
          <a:xfrm xmlns:a="http://schemas.openxmlformats.org/drawingml/2006/main">
            <a:off x="3600450" y="27241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526D3C"/>
                </a:solidFill>
                <a:latin typeface="Arial"/>
                <a:ea typeface="Arial"/>
                <a:cs typeface="Arial"/>
              </a:defRPr>
            </a:pPr>
            <a:r>
              <a:rPr sz="4200" b="1">
                <a:solidFill>
                  <a:srgbClr val="526D3C"/>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8D02C4F-9AD6-40F7-B320-0ED446070FB4}"/>
              </a:ext>
            </a:extLst>
          </p:cNvPr>
          <p:cNvSpPr>
            <a:spLocks xmlns:a="http://schemas.openxmlformats.org/drawingml/2006/main" noGrp="1"/>
          </p:cNvSpPr>
          <p:nvPr/>
        </p:nvSpPr>
        <p:spPr>
          <a:xfrm xmlns:a="http://schemas.openxmlformats.org/drawingml/2006/main">
            <a:off x="3600450" y="35528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41D"/>
                </a:solidFill>
                <a:latin typeface="Arial"/>
                <a:ea typeface="Arial"/>
                <a:cs typeface="Arial"/>
              </a:defRPr>
            </a:pPr>
            <a:r>
              <a:rPr sz="2250" b="1">
                <a:solidFill>
                  <a:srgbClr val="18241D"/>
                </a:solidFill>
                <a:latin typeface="Arial"/>
                <a:ea typeface="Arial"/>
                <a:cs typeface="Arial"/>
              </a:rPr>
              <a:t>Submit</a:t>
            </a:r>
          </a:p>
        </p:txBody>
      </p:sp>
      <p:sp>
        <p:nvSpPr>
          <p:cNvPr id="11" name="">
            <a:extLst xmlns:a="http://schemas.openxmlformats.org/drawingml/2006/main">
              <a:ext uri="{FF2B5EF4-FFF2-40B4-BE49-F238E27FC236}">
                <a16:creationId xmlns:a16="http://schemas.microsoft.com/office/drawing/2014/main" id="{CD708041-FC84-4A0A-8687-F77717AF29F2}"/>
              </a:ext>
            </a:extLst>
          </p:cNvPr>
          <p:cNvSpPr>
            <a:spLocks xmlns:a="http://schemas.openxmlformats.org/drawingml/2006/main" noGrp="1"/>
          </p:cNvSpPr>
          <p:nvPr/>
        </p:nvSpPr>
        <p:spPr>
          <a:xfrm xmlns:a="http://schemas.openxmlformats.org/drawingml/2006/main">
            <a:off x="3600450" y="4067175"/>
            <a:ext cx="228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Team invites, drafts</a:t>
            </a:r>
          </a:p>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and deadline checks</a:t>
            </a:r>
          </a:p>
        </p:txBody>
      </p:sp>
      <p:sp>
        <p:nvSpPr>
          <p:cNvPr id="12" name="">
            <a:extLst xmlns:a="http://schemas.openxmlformats.org/drawingml/2006/main">
              <a:ext uri="{FF2B5EF4-FFF2-40B4-BE49-F238E27FC236}">
                <a16:creationId xmlns:a16="http://schemas.microsoft.com/office/drawing/2014/main" id="{086C3B63-B2F2-487A-A9FA-AF0A01BF4269}"/>
              </a:ext>
            </a:extLst>
          </p:cNvPr>
          <p:cNvSpPr>
            <a:spLocks xmlns:a="http://schemas.openxmlformats.org/drawingml/2006/main" noGrp="1"/>
          </p:cNvSpPr>
          <p:nvPr/>
        </p:nvSpPr>
        <p:spPr>
          <a:xfrm xmlns:a="http://schemas.openxmlformats.org/drawingml/2006/main">
            <a:off x="6372225" y="2209800"/>
            <a:ext cx="200025" cy="200025"/>
          </a:xfrm>
          <a:prstGeom xmlns:a="http://schemas.openxmlformats.org/drawingml/2006/main" prst="rect">
            <a:avLst/>
          </a:prstGeom>
          <a:solidFill xmlns:a="http://schemas.openxmlformats.org/drawingml/2006/main">
            <a:srgbClr val="526D3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1AFD80-A799-42FF-A029-3EAE53E32C3C}"/>
              </a:ext>
            </a:extLst>
          </p:cNvPr>
          <p:cNvSpPr>
            <a:spLocks xmlns:a="http://schemas.openxmlformats.org/drawingml/2006/main" noGrp="1"/>
          </p:cNvSpPr>
          <p:nvPr/>
        </p:nvSpPr>
        <p:spPr>
          <a:xfrm xmlns:a="http://schemas.openxmlformats.org/drawingml/2006/main">
            <a:off x="6305550" y="27241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526D3C"/>
                </a:solidFill>
                <a:latin typeface="Arial"/>
                <a:ea typeface="Arial"/>
                <a:cs typeface="Arial"/>
              </a:defRPr>
            </a:pPr>
            <a:r>
              <a:rPr sz="4200" b="1">
                <a:solidFill>
                  <a:srgbClr val="526D3C"/>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AEA3B6E-1CAB-45E3-9CCC-5F1B2A149097}"/>
              </a:ext>
            </a:extLst>
          </p:cNvPr>
          <p:cNvSpPr>
            <a:spLocks xmlns:a="http://schemas.openxmlformats.org/drawingml/2006/main" noGrp="1"/>
          </p:cNvSpPr>
          <p:nvPr/>
        </p:nvSpPr>
        <p:spPr>
          <a:xfrm xmlns:a="http://schemas.openxmlformats.org/drawingml/2006/main">
            <a:off x="6305550" y="35528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41D"/>
                </a:solidFill>
                <a:latin typeface="Arial"/>
                <a:ea typeface="Arial"/>
                <a:cs typeface="Arial"/>
              </a:defRPr>
            </a:pPr>
            <a:r>
              <a:rPr sz="2250" b="1">
                <a:solidFill>
                  <a:srgbClr val="18241D"/>
                </a:solidFill>
                <a:latin typeface="Arial"/>
                <a:ea typeface="Arial"/>
                <a:cs typeface="Arial"/>
              </a:rPr>
              <a:t>Review</a:t>
            </a:r>
          </a:p>
        </p:txBody>
      </p:sp>
      <p:sp>
        <p:nvSpPr>
          <p:cNvPr id="15" name="">
            <a:extLst xmlns:a="http://schemas.openxmlformats.org/drawingml/2006/main">
              <a:ext uri="{FF2B5EF4-FFF2-40B4-BE49-F238E27FC236}">
                <a16:creationId xmlns:a16="http://schemas.microsoft.com/office/drawing/2014/main" id="{E72C12FA-93C0-49AA-AB05-36143B108517}"/>
              </a:ext>
            </a:extLst>
          </p:cNvPr>
          <p:cNvSpPr>
            <a:spLocks xmlns:a="http://schemas.openxmlformats.org/drawingml/2006/main" noGrp="1"/>
          </p:cNvSpPr>
          <p:nvPr/>
        </p:nvSpPr>
        <p:spPr>
          <a:xfrm xmlns:a="http://schemas.openxmlformats.org/drawingml/2006/main">
            <a:off x="6305550" y="4067175"/>
            <a:ext cx="228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Track-scoped work</a:t>
            </a:r>
          </a:p>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and private ballots</a:t>
            </a:r>
          </a:p>
        </p:txBody>
      </p:sp>
      <p:sp>
        <p:nvSpPr>
          <p:cNvPr id="16" name="">
            <a:extLst xmlns:a="http://schemas.openxmlformats.org/drawingml/2006/main">
              <a:ext uri="{FF2B5EF4-FFF2-40B4-BE49-F238E27FC236}">
                <a16:creationId xmlns:a16="http://schemas.microsoft.com/office/drawing/2014/main" id="{47BDF55D-F52B-4A4D-B35D-40D6ADB638CD}"/>
              </a:ext>
            </a:extLst>
          </p:cNvPr>
          <p:cNvSpPr>
            <a:spLocks xmlns:a="http://schemas.openxmlformats.org/drawingml/2006/main" noGrp="1"/>
          </p:cNvSpPr>
          <p:nvPr/>
        </p:nvSpPr>
        <p:spPr>
          <a:xfrm xmlns:a="http://schemas.openxmlformats.org/drawingml/2006/main">
            <a:off x="9077325" y="2209800"/>
            <a:ext cx="200025" cy="200025"/>
          </a:xfrm>
          <a:prstGeom xmlns:a="http://schemas.openxmlformats.org/drawingml/2006/main" prst="rect">
            <a:avLst/>
          </a:prstGeom>
          <a:solidFill xmlns:a="http://schemas.openxmlformats.org/drawingml/2006/main">
            <a:srgbClr val="526D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915BED9-FA72-46AF-A9C6-BBDEBCFAD3CC}"/>
              </a:ext>
            </a:extLst>
          </p:cNvPr>
          <p:cNvSpPr>
            <a:spLocks xmlns:a="http://schemas.openxmlformats.org/drawingml/2006/main" noGrp="1"/>
          </p:cNvSpPr>
          <p:nvPr/>
        </p:nvSpPr>
        <p:spPr>
          <a:xfrm xmlns:a="http://schemas.openxmlformats.org/drawingml/2006/main">
            <a:off x="9010650" y="272415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526D3C"/>
                </a:solidFill>
                <a:latin typeface="Arial"/>
                <a:ea typeface="Arial"/>
                <a:cs typeface="Arial"/>
              </a:defRPr>
            </a:pPr>
            <a:r>
              <a:rPr sz="4200" b="1">
                <a:solidFill>
                  <a:srgbClr val="526D3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AB64E114-8BDF-4321-985A-42B6E5D24A8E}"/>
              </a:ext>
            </a:extLst>
          </p:cNvPr>
          <p:cNvSpPr>
            <a:spLocks xmlns:a="http://schemas.openxmlformats.org/drawingml/2006/main" noGrp="1"/>
          </p:cNvSpPr>
          <p:nvPr/>
        </p:nvSpPr>
        <p:spPr>
          <a:xfrm xmlns:a="http://schemas.openxmlformats.org/drawingml/2006/main">
            <a:off x="9010650" y="35528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41D"/>
                </a:solidFill>
                <a:latin typeface="Arial"/>
                <a:ea typeface="Arial"/>
                <a:cs typeface="Arial"/>
              </a:defRPr>
            </a:pPr>
            <a:r>
              <a:rPr sz="2250" b="1">
                <a:solidFill>
                  <a:srgbClr val="18241D"/>
                </a:solidFill>
                <a:latin typeface="Arial"/>
                <a:ea typeface="Arial"/>
                <a:cs typeface="Arial"/>
              </a:rPr>
              <a:t>Publish</a:t>
            </a:r>
          </a:p>
        </p:txBody>
      </p:sp>
      <p:sp>
        <p:nvSpPr>
          <p:cNvPr id="19" name="">
            <a:extLst xmlns:a="http://schemas.openxmlformats.org/drawingml/2006/main">
              <a:ext uri="{FF2B5EF4-FFF2-40B4-BE49-F238E27FC236}">
                <a16:creationId xmlns:a16="http://schemas.microsoft.com/office/drawing/2014/main" id="{7FE2B3B5-6BB9-476B-8E45-821B5CB41F56}"/>
              </a:ext>
            </a:extLst>
          </p:cNvPr>
          <p:cNvSpPr>
            <a:spLocks xmlns:a="http://schemas.openxmlformats.org/drawingml/2006/main" noGrp="1"/>
          </p:cNvSpPr>
          <p:nvPr/>
        </p:nvSpPr>
        <p:spPr>
          <a:xfrm xmlns:a="http://schemas.openxmlformats.org/drawingml/2006/main">
            <a:off x="9010650" y="4067175"/>
            <a:ext cx="228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Adjusted results,</a:t>
            </a:r>
          </a:p>
          <a:p xmlns:a="http://schemas.openxmlformats.org/drawingml/2006/main">
            <a:pPr>
              <a:defRPr sz="1725" b="0">
                <a:solidFill>
                  <a:srgbClr val="74796F"/>
                </a:solidFill>
                <a:latin typeface="Arial"/>
                <a:ea typeface="Arial"/>
                <a:cs typeface="Arial"/>
              </a:defRPr>
            </a:pPr>
            <a:r>
              <a:rPr sz="1725" b="0">
                <a:solidFill>
                  <a:srgbClr val="74796F"/>
                </a:solidFill>
                <a:latin typeface="Arial"/>
                <a:ea typeface="Arial"/>
                <a:cs typeface="Arial"/>
              </a:rPr>
              <a:t>exports and audit trail</a:t>
            </a:r>
          </a:p>
        </p:txBody>
      </p:sp>
      <p:sp>
        <p:nvSpPr>
          <p:cNvPr id="20" name="">
            <a:extLst xmlns:a="http://schemas.openxmlformats.org/drawingml/2006/main">
              <a:ext uri="{FF2B5EF4-FFF2-40B4-BE49-F238E27FC236}">
                <a16:creationId xmlns:a16="http://schemas.microsoft.com/office/drawing/2014/main" id="{449FD7F5-84F9-417A-9F6D-DD798E0D0E8E}"/>
              </a:ext>
            </a:extLst>
          </p:cNvPr>
          <p:cNvSpPr>
            <a:spLocks xmlns:a="http://schemas.openxmlformats.org/drawingml/2006/main" noGrp="1"/>
          </p:cNvSpPr>
          <p:nvPr/>
        </p:nvSpPr>
        <p:spPr>
          <a:xfrm xmlns:a="http://schemas.openxmlformats.org/drawingml/2006/main">
            <a:off x="762000" y="5562600"/>
            <a:ext cx="1066800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E97C569-C5CA-43EB-97B7-F800E20F9607}"/>
              </a:ext>
            </a:extLst>
          </p:cNvPr>
          <p:cNvSpPr>
            <a:spLocks xmlns:a="http://schemas.openxmlformats.org/drawingml/2006/main" noGrp="1"/>
          </p:cNvSpPr>
          <p:nvPr/>
        </p:nvSpPr>
        <p:spPr>
          <a:xfrm xmlns:a="http://schemas.openxmlformats.org/drawingml/2006/main">
            <a:off x="762000" y="58293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241D"/>
                </a:solidFill>
                <a:latin typeface="Arial"/>
                <a:ea typeface="Arial"/>
                <a:cs typeface="Arial"/>
              </a:defRPr>
            </a:pPr>
            <a:r>
              <a:rPr sz="1575" b="1">
                <a:solidFill>
                  <a:srgbClr val="18241D"/>
                </a:solidFill>
                <a:latin typeface="Arial"/>
                <a:ea typeface="Arial"/>
                <a:cs typeface="Arial"/>
              </a:rPr>
              <a:t>41 fixture projects seed the gallery on first start.</a:t>
            </a:r>
          </a:p>
        </p:txBody>
      </p:sp>
    </p:spTree>
    <p:extLst>
      <p:ext uri="{BB962C8B-B14F-4D97-AF65-F5344CB8AC3E}">
        <p14:creationId xmlns:p14="http://schemas.microsoft.com/office/powerpoint/2010/main" val="1954819738"/>
      </p:ext>
    </p:extLst>
  </p:cSld>
</p:sld>
</file>

<file path=ppt/slides/slide3.xml><?xml version="1.0" encoding="utf-8"?>
<p:sld xmlns:p="http://schemas.openxmlformats.org/presentationml/2006/main">
  <p:cSld>
    <p:bg>
      <p:bgPr>
        <a:solidFill xmlns:a="http://schemas.openxmlformats.org/drawingml/2006/main">
          <a:srgbClr val="15231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A5864D1-90A1-48C7-BF70-BD06630CCD39}"/>
              </a:ext>
            </a:extLst>
          </p:cNvPr>
          <p:cNvSpPr>
            <a:spLocks xmlns:a="http://schemas.openxmlformats.org/drawingml/2006/main" noGrp="1"/>
          </p:cNvSpPr>
          <p:nvPr/>
        </p:nvSpPr>
        <p:spPr>
          <a:xfrm xmlns:a="http://schemas.openxmlformats.org/drawingml/2006/main">
            <a:off x="723900" y="5524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EFA"/>
                </a:solidFill>
                <a:latin typeface="Arial"/>
                <a:ea typeface="Arial"/>
                <a:cs typeface="Arial"/>
              </a:defRPr>
            </a:pPr>
            <a:r>
              <a:rPr sz="3600" b="1">
                <a:solidFill>
                  <a:srgbClr val="FFFEFA"/>
                </a:solidFill>
                <a:latin typeface="Arial"/>
                <a:ea typeface="Arial"/>
                <a:cs typeface="Arial"/>
              </a:rPr>
              <a:t>Judging with clear boundaries</a:t>
            </a:r>
          </a:p>
        </p:txBody>
      </p:sp>
      <p:sp>
        <p:nvSpPr>
          <p:cNvPr id="2" name="">
            <a:extLst xmlns:a="http://schemas.openxmlformats.org/drawingml/2006/main">
              <a:ext uri="{FF2B5EF4-FFF2-40B4-BE49-F238E27FC236}">
                <a16:creationId xmlns:a16="http://schemas.microsoft.com/office/drawing/2014/main" id="{A440145D-525F-44FF-BE13-2F36B7B86DBA}"/>
              </a:ext>
            </a:extLst>
          </p:cNvPr>
          <p:cNvSpPr>
            <a:spLocks xmlns:a="http://schemas.openxmlformats.org/drawingml/2006/main" noGrp="1"/>
          </p:cNvSpPr>
          <p:nvPr/>
        </p:nvSpPr>
        <p:spPr>
          <a:xfrm xmlns:a="http://schemas.openxmlformats.org/drawingml/2006/main">
            <a:off x="762000" y="12573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1CBBE"/>
                </a:solidFill>
                <a:latin typeface="Arial"/>
                <a:ea typeface="Arial"/>
                <a:cs typeface="Arial"/>
              </a:defRPr>
            </a:pPr>
            <a:r>
              <a:rPr sz="1800" b="0">
                <a:solidFill>
                  <a:srgbClr val="C1CBBE"/>
                </a:solidFill>
                <a:latin typeface="Arial"/>
                <a:ea typeface="Arial"/>
                <a:cs typeface="Arial"/>
              </a:rPr>
              <a:t>Private ballots. Explainable adjustments. A record of every decision.</a:t>
            </a:r>
          </a:p>
        </p:txBody>
      </p:sp>
      <p:sp>
        <p:nvSpPr>
          <p:cNvPr id="3" name="">
            <a:extLst xmlns:a="http://schemas.openxmlformats.org/drawingml/2006/main">
              <a:ext uri="{FF2B5EF4-FFF2-40B4-BE49-F238E27FC236}">
                <a16:creationId xmlns:a16="http://schemas.microsoft.com/office/drawing/2014/main" id="{9487FB0F-839A-4DBC-B157-C379115E36DF}"/>
              </a:ext>
            </a:extLst>
          </p:cNvPr>
          <p:cNvSpPr>
            <a:spLocks xmlns:a="http://schemas.openxmlformats.org/drawingml/2006/main" noGrp="1"/>
          </p:cNvSpPr>
          <p:nvPr/>
        </p:nvSpPr>
        <p:spPr>
          <a:xfrm xmlns:a="http://schemas.openxmlformats.org/drawingml/2006/main">
            <a:off x="838200" y="2133600"/>
            <a:ext cx="66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993"/>
                </a:solidFill>
                <a:latin typeface="Arial"/>
                <a:ea typeface="Arial"/>
                <a:cs typeface="Arial"/>
              </a:defRPr>
            </a:pPr>
            <a:r>
              <a:rPr sz="2250" b="1">
                <a:solidFill>
                  <a:srgbClr val="B9D99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BD58410-D21A-4FF4-8AB7-E544C551FA08}"/>
              </a:ext>
            </a:extLst>
          </p:cNvPr>
          <p:cNvSpPr>
            <a:spLocks xmlns:a="http://schemas.openxmlformats.org/drawingml/2006/main" noGrp="1"/>
          </p:cNvSpPr>
          <p:nvPr/>
        </p:nvSpPr>
        <p:spPr>
          <a:xfrm xmlns:a="http://schemas.openxmlformats.org/drawingml/2006/main">
            <a:off x="1714500" y="2133600"/>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EFA"/>
                </a:solidFill>
                <a:latin typeface="Arial"/>
                <a:ea typeface="Arial"/>
                <a:cs typeface="Arial"/>
              </a:defRPr>
            </a:pPr>
            <a:r>
              <a:rPr sz="2100" b="1">
                <a:solidFill>
                  <a:srgbClr val="FFFEFA"/>
                </a:solidFill>
                <a:latin typeface="Arial"/>
                <a:ea typeface="Arial"/>
                <a:cs typeface="Arial"/>
              </a:rPr>
              <a:t>Assignment</a:t>
            </a:r>
          </a:p>
        </p:txBody>
      </p:sp>
      <p:sp>
        <p:nvSpPr>
          <p:cNvPr id="5" name="">
            <a:extLst xmlns:a="http://schemas.openxmlformats.org/drawingml/2006/main">
              <a:ext uri="{FF2B5EF4-FFF2-40B4-BE49-F238E27FC236}">
                <a16:creationId xmlns:a16="http://schemas.microsoft.com/office/drawing/2014/main" id="{83D76E48-77E0-4F00-B632-00540303C4B3}"/>
              </a:ext>
            </a:extLst>
          </p:cNvPr>
          <p:cNvSpPr>
            <a:spLocks xmlns:a="http://schemas.openxmlformats.org/drawingml/2006/main" noGrp="1"/>
          </p:cNvSpPr>
          <p:nvPr/>
        </p:nvSpPr>
        <p:spPr>
          <a:xfrm xmlns:a="http://schemas.openxmlformats.org/drawingml/2006/main">
            <a:off x="4476750" y="21526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0D6CE"/>
                </a:solidFill>
                <a:latin typeface="Arial"/>
                <a:ea typeface="Arial"/>
                <a:cs typeface="Arial"/>
              </a:defRPr>
            </a:pPr>
            <a:r>
              <a:rPr sz="1725" b="0">
                <a:solidFill>
                  <a:srgbClr val="D0D6CE"/>
                </a:solidFill>
                <a:latin typeface="Arial"/>
                <a:ea typeface="Arial"/>
                <a:cs typeface="Arial"/>
              </a:rPr>
              <a:t>Only judges assigned to a project and its track can review it.</a:t>
            </a:r>
          </a:p>
        </p:txBody>
      </p:sp>
      <p:sp>
        <p:nvSpPr>
          <p:cNvPr id="6" name="">
            <a:extLst xmlns:a="http://schemas.openxmlformats.org/drawingml/2006/main">
              <a:ext uri="{FF2B5EF4-FFF2-40B4-BE49-F238E27FC236}">
                <a16:creationId xmlns:a16="http://schemas.microsoft.com/office/drawing/2014/main" id="{D46C4372-F06E-4C06-90BF-8DAAE03ED0D3}"/>
              </a:ext>
            </a:extLst>
          </p:cNvPr>
          <p:cNvSpPr>
            <a:spLocks xmlns:a="http://schemas.openxmlformats.org/drawingml/2006/main" noGrp="1"/>
          </p:cNvSpPr>
          <p:nvPr/>
        </p:nvSpPr>
        <p:spPr>
          <a:xfrm xmlns:a="http://schemas.openxmlformats.org/drawingml/2006/main">
            <a:off x="1714500" y="2724150"/>
            <a:ext cx="9429750" cy="9525"/>
          </a:xfrm>
          <a:prstGeom xmlns:a="http://schemas.openxmlformats.org/drawingml/2006/main" prst="rect">
            <a:avLst/>
          </a:prstGeom>
          <a:solidFill xmlns:a="http://schemas.openxmlformats.org/drawingml/2006/main">
            <a:srgbClr val="3948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2B7A177-87A7-4249-94B5-B331CCCCEA2B}"/>
              </a:ext>
            </a:extLst>
          </p:cNvPr>
          <p:cNvSpPr>
            <a:spLocks xmlns:a="http://schemas.openxmlformats.org/drawingml/2006/main" noGrp="1"/>
          </p:cNvSpPr>
          <p:nvPr/>
        </p:nvSpPr>
        <p:spPr>
          <a:xfrm xmlns:a="http://schemas.openxmlformats.org/drawingml/2006/main">
            <a:off x="838200" y="3143250"/>
            <a:ext cx="66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993"/>
                </a:solidFill>
                <a:latin typeface="Arial"/>
                <a:ea typeface="Arial"/>
                <a:cs typeface="Arial"/>
              </a:defRPr>
            </a:pPr>
            <a:r>
              <a:rPr sz="2250" b="1">
                <a:solidFill>
                  <a:srgbClr val="B9D99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7EAA346-F26D-4EBC-8BD5-FF6FDE0CDFBD}"/>
              </a:ext>
            </a:extLst>
          </p:cNvPr>
          <p:cNvSpPr>
            <a:spLocks xmlns:a="http://schemas.openxmlformats.org/drawingml/2006/main" noGrp="1"/>
          </p:cNvSpPr>
          <p:nvPr/>
        </p:nvSpPr>
        <p:spPr>
          <a:xfrm xmlns:a="http://schemas.openxmlformats.org/drawingml/2006/main">
            <a:off x="1714500" y="3143250"/>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EFA"/>
                </a:solidFill>
                <a:latin typeface="Arial"/>
                <a:ea typeface="Arial"/>
                <a:cs typeface="Arial"/>
              </a:defRPr>
            </a:pPr>
            <a:r>
              <a:rPr sz="2100" b="1">
                <a:solidFill>
                  <a:srgbClr val="FFFEFA"/>
                </a:solidFill>
                <a:latin typeface="Arial"/>
                <a:ea typeface="Arial"/>
                <a:cs typeface="Arial"/>
              </a:rPr>
              <a:t>Scoring</a:t>
            </a:r>
          </a:p>
        </p:txBody>
      </p:sp>
      <p:sp>
        <p:nvSpPr>
          <p:cNvPr id="9" name="">
            <a:extLst xmlns:a="http://schemas.openxmlformats.org/drawingml/2006/main">
              <a:ext uri="{FF2B5EF4-FFF2-40B4-BE49-F238E27FC236}">
                <a16:creationId xmlns:a16="http://schemas.microsoft.com/office/drawing/2014/main" id="{CC808A3E-3B0B-4D3C-9080-E2ECC58B2752}"/>
              </a:ext>
            </a:extLst>
          </p:cNvPr>
          <p:cNvSpPr>
            <a:spLocks xmlns:a="http://schemas.openxmlformats.org/drawingml/2006/main" noGrp="1"/>
          </p:cNvSpPr>
          <p:nvPr/>
        </p:nvSpPr>
        <p:spPr>
          <a:xfrm xmlns:a="http://schemas.openxmlformats.org/drawingml/2006/main">
            <a:off x="4476750" y="31623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0D6CE"/>
                </a:solidFill>
                <a:latin typeface="Arial"/>
                <a:ea typeface="Arial"/>
                <a:cs typeface="Arial"/>
              </a:defRPr>
            </a:pPr>
            <a:r>
              <a:rPr sz="1725" b="0">
                <a:solidFill>
                  <a:srgbClr val="D0D6CE"/>
                </a:solidFill>
                <a:latin typeface="Arial"/>
                <a:ea typeface="Arial"/>
                <a:cs typeface="Arial"/>
              </a:rPr>
              <a:t>Weighted 1–5 criteria keep every project on the same rubric.</a:t>
            </a:r>
          </a:p>
        </p:txBody>
      </p:sp>
      <p:sp>
        <p:nvSpPr>
          <p:cNvPr id="10" name="">
            <a:extLst xmlns:a="http://schemas.openxmlformats.org/drawingml/2006/main">
              <a:ext uri="{FF2B5EF4-FFF2-40B4-BE49-F238E27FC236}">
                <a16:creationId xmlns:a16="http://schemas.microsoft.com/office/drawing/2014/main" id="{A3211536-323F-44D2-ADC3-726BEB8B450D}"/>
              </a:ext>
            </a:extLst>
          </p:cNvPr>
          <p:cNvSpPr>
            <a:spLocks xmlns:a="http://schemas.openxmlformats.org/drawingml/2006/main" noGrp="1"/>
          </p:cNvSpPr>
          <p:nvPr/>
        </p:nvSpPr>
        <p:spPr>
          <a:xfrm xmlns:a="http://schemas.openxmlformats.org/drawingml/2006/main">
            <a:off x="1714500" y="3733800"/>
            <a:ext cx="9429750" cy="9525"/>
          </a:xfrm>
          <a:prstGeom xmlns:a="http://schemas.openxmlformats.org/drawingml/2006/main" prst="rect">
            <a:avLst/>
          </a:prstGeom>
          <a:solidFill xmlns:a="http://schemas.openxmlformats.org/drawingml/2006/main">
            <a:srgbClr val="3948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F34A4A-4B96-46F1-AE88-CC415719A987}"/>
              </a:ext>
            </a:extLst>
          </p:cNvPr>
          <p:cNvSpPr>
            <a:spLocks xmlns:a="http://schemas.openxmlformats.org/drawingml/2006/main" noGrp="1"/>
          </p:cNvSpPr>
          <p:nvPr/>
        </p:nvSpPr>
        <p:spPr>
          <a:xfrm xmlns:a="http://schemas.openxmlformats.org/drawingml/2006/main">
            <a:off x="838200" y="4152900"/>
            <a:ext cx="66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993"/>
                </a:solidFill>
                <a:latin typeface="Arial"/>
                <a:ea typeface="Arial"/>
                <a:cs typeface="Arial"/>
              </a:defRPr>
            </a:pPr>
            <a:r>
              <a:rPr sz="2250" b="1">
                <a:solidFill>
                  <a:srgbClr val="B9D99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3CBB7DBE-E5CF-4E1B-851A-F7CE18C8CDB3}"/>
              </a:ext>
            </a:extLst>
          </p:cNvPr>
          <p:cNvSpPr>
            <a:spLocks xmlns:a="http://schemas.openxmlformats.org/drawingml/2006/main" noGrp="1"/>
          </p:cNvSpPr>
          <p:nvPr/>
        </p:nvSpPr>
        <p:spPr>
          <a:xfrm xmlns:a="http://schemas.openxmlformats.org/drawingml/2006/main">
            <a:off x="1714500" y="4152900"/>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EFA"/>
                </a:solidFill>
                <a:latin typeface="Arial"/>
                <a:ea typeface="Arial"/>
                <a:cs typeface="Arial"/>
              </a:defRPr>
            </a:pPr>
            <a:r>
              <a:rPr sz="2100" b="1">
                <a:solidFill>
                  <a:srgbClr val="FFFEFA"/>
                </a:solidFill>
                <a:latin typeface="Arial"/>
                <a:ea typeface="Arial"/>
                <a:cs typeface="Arial"/>
              </a:rPr>
              <a:t>Normalization</a:t>
            </a:r>
          </a:p>
        </p:txBody>
      </p:sp>
      <p:sp>
        <p:nvSpPr>
          <p:cNvPr id="13" name="">
            <a:extLst xmlns:a="http://schemas.openxmlformats.org/drawingml/2006/main">
              <a:ext uri="{FF2B5EF4-FFF2-40B4-BE49-F238E27FC236}">
                <a16:creationId xmlns:a16="http://schemas.microsoft.com/office/drawing/2014/main" id="{0E25FDE8-4F41-47FA-97D7-3C7A5180B90C}"/>
              </a:ext>
            </a:extLst>
          </p:cNvPr>
          <p:cNvSpPr>
            <a:spLocks xmlns:a="http://schemas.openxmlformats.org/drawingml/2006/main" noGrp="1"/>
          </p:cNvSpPr>
          <p:nvPr/>
        </p:nvSpPr>
        <p:spPr>
          <a:xfrm xmlns:a="http://schemas.openxmlformats.org/drawingml/2006/main">
            <a:off x="4476750" y="4171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0D6CE"/>
                </a:solidFill>
                <a:latin typeface="Arial"/>
                <a:ea typeface="Arial"/>
                <a:cs typeface="Arial"/>
              </a:defRPr>
            </a:pPr>
            <a:r>
              <a:rPr sz="1725" b="0">
                <a:solidFill>
                  <a:srgbClr val="D0D6CE"/>
                </a:solidFill>
                <a:latin typeface="Arial"/>
                <a:ea typeface="Arial"/>
                <a:cs typeface="Arial"/>
              </a:rPr>
              <a:t>Adjust for judge severity and spread; retain the raw scores.</a:t>
            </a:r>
          </a:p>
        </p:txBody>
      </p:sp>
      <p:sp>
        <p:nvSpPr>
          <p:cNvPr id="14" name="">
            <a:extLst xmlns:a="http://schemas.openxmlformats.org/drawingml/2006/main">
              <a:ext uri="{FF2B5EF4-FFF2-40B4-BE49-F238E27FC236}">
                <a16:creationId xmlns:a16="http://schemas.microsoft.com/office/drawing/2014/main" id="{FE104E9F-373F-4261-8E50-A7156041DC91}"/>
              </a:ext>
            </a:extLst>
          </p:cNvPr>
          <p:cNvSpPr>
            <a:spLocks xmlns:a="http://schemas.openxmlformats.org/drawingml/2006/main" noGrp="1"/>
          </p:cNvSpPr>
          <p:nvPr/>
        </p:nvSpPr>
        <p:spPr>
          <a:xfrm xmlns:a="http://schemas.openxmlformats.org/drawingml/2006/main">
            <a:off x="1714500" y="4743450"/>
            <a:ext cx="9429750" cy="9525"/>
          </a:xfrm>
          <a:prstGeom xmlns:a="http://schemas.openxmlformats.org/drawingml/2006/main" prst="rect">
            <a:avLst/>
          </a:prstGeom>
          <a:solidFill xmlns:a="http://schemas.openxmlformats.org/drawingml/2006/main">
            <a:srgbClr val="3948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C7721A-91A0-40C7-8370-45F001B4BF45}"/>
              </a:ext>
            </a:extLst>
          </p:cNvPr>
          <p:cNvSpPr>
            <a:spLocks xmlns:a="http://schemas.openxmlformats.org/drawingml/2006/main" noGrp="1"/>
          </p:cNvSpPr>
          <p:nvPr/>
        </p:nvSpPr>
        <p:spPr>
          <a:xfrm xmlns:a="http://schemas.openxmlformats.org/drawingml/2006/main">
            <a:off x="838200" y="5162550"/>
            <a:ext cx="66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993"/>
                </a:solidFill>
                <a:latin typeface="Arial"/>
                <a:ea typeface="Arial"/>
                <a:cs typeface="Arial"/>
              </a:defRPr>
            </a:pPr>
            <a:r>
              <a:rPr sz="2250" b="1">
                <a:solidFill>
                  <a:srgbClr val="B9D993"/>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7F314984-2507-492B-A4E5-42841CF6B984}"/>
              </a:ext>
            </a:extLst>
          </p:cNvPr>
          <p:cNvSpPr>
            <a:spLocks xmlns:a="http://schemas.openxmlformats.org/drawingml/2006/main" noGrp="1"/>
          </p:cNvSpPr>
          <p:nvPr/>
        </p:nvSpPr>
        <p:spPr>
          <a:xfrm xmlns:a="http://schemas.openxmlformats.org/drawingml/2006/main">
            <a:off x="1714500" y="5162550"/>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EFA"/>
                </a:solidFill>
                <a:latin typeface="Arial"/>
                <a:ea typeface="Arial"/>
                <a:cs typeface="Arial"/>
              </a:defRPr>
            </a:pPr>
            <a:r>
              <a:rPr sz="2100" b="1">
                <a:solidFill>
                  <a:srgbClr val="FFFEFA"/>
                </a:solidFill>
                <a:latin typeface="Arial"/>
                <a:ea typeface="Arial"/>
                <a:cs typeface="Arial"/>
              </a:rPr>
              <a:t>Audit</a:t>
            </a:r>
          </a:p>
        </p:txBody>
      </p:sp>
      <p:sp>
        <p:nvSpPr>
          <p:cNvPr id="17" name="">
            <a:extLst xmlns:a="http://schemas.openxmlformats.org/drawingml/2006/main">
              <a:ext uri="{FF2B5EF4-FFF2-40B4-BE49-F238E27FC236}">
                <a16:creationId xmlns:a16="http://schemas.microsoft.com/office/drawing/2014/main" id="{4FD8EEC1-F9FC-4800-B89C-BCC94E16650E}"/>
              </a:ext>
            </a:extLst>
          </p:cNvPr>
          <p:cNvSpPr>
            <a:spLocks xmlns:a="http://schemas.openxmlformats.org/drawingml/2006/main" noGrp="1"/>
          </p:cNvSpPr>
          <p:nvPr/>
        </p:nvSpPr>
        <p:spPr>
          <a:xfrm xmlns:a="http://schemas.openxmlformats.org/drawingml/2006/main">
            <a:off x="4476750" y="51816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0D6CE"/>
                </a:solidFill>
                <a:latin typeface="Arial"/>
                <a:ea typeface="Arial"/>
                <a:cs typeface="Arial"/>
              </a:defRPr>
            </a:pPr>
            <a:r>
              <a:rPr sz="1725" b="0">
                <a:solidFill>
                  <a:srgbClr val="D0D6CE"/>
                </a:solidFill>
                <a:latin typeface="Arial"/>
                <a:ea typeface="Arial"/>
                <a:cs typeface="Arial"/>
              </a:rPr>
              <a:t>Hash-linked events let organizers verify ledger continuity.</a:t>
            </a:r>
          </a:p>
        </p:txBody>
      </p:sp>
      <p:sp>
        <p:nvSpPr>
          <p:cNvPr id="18" name="">
            <a:extLst xmlns:a="http://schemas.openxmlformats.org/drawingml/2006/main">
              <a:ext uri="{FF2B5EF4-FFF2-40B4-BE49-F238E27FC236}">
                <a16:creationId xmlns:a16="http://schemas.microsoft.com/office/drawing/2014/main" id="{B682B97E-0644-45EA-A5E9-C7CC395B8740}"/>
              </a:ext>
            </a:extLst>
          </p:cNvPr>
          <p:cNvSpPr>
            <a:spLocks xmlns:a="http://schemas.openxmlformats.org/drawingml/2006/main" noGrp="1"/>
          </p:cNvSpPr>
          <p:nvPr/>
        </p:nvSpPr>
        <p:spPr>
          <a:xfrm xmlns:a="http://schemas.openxmlformats.org/drawingml/2006/main">
            <a:off x="1714500" y="5753100"/>
            <a:ext cx="9429750" cy="9525"/>
          </a:xfrm>
          <a:prstGeom xmlns:a="http://schemas.openxmlformats.org/drawingml/2006/main" prst="rect">
            <a:avLst/>
          </a:prstGeom>
          <a:solidFill xmlns:a="http://schemas.openxmlformats.org/drawingml/2006/main">
            <a:srgbClr val="3948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32E9A28-0824-4ABC-A243-A43C8CF10E92}"/>
              </a:ext>
            </a:extLst>
          </p:cNvPr>
          <p:cNvSpPr>
            <a:spLocks xmlns:a="http://schemas.openxmlformats.org/drawingml/2006/main" noGrp="1"/>
          </p:cNvSpPr>
          <p:nvPr/>
        </p:nvSpPr>
        <p:spPr>
          <a:xfrm xmlns:a="http://schemas.openxmlformats.org/drawingml/2006/main">
            <a:off x="838200" y="6343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9D993"/>
                </a:solidFill>
                <a:latin typeface="Arial"/>
                <a:ea typeface="Arial"/>
                <a:cs typeface="Arial"/>
              </a:defRPr>
            </a:pPr>
            <a:r>
              <a:rPr sz="1425" b="0">
                <a:solidFill>
                  <a:srgbClr val="B9D993"/>
                </a:solidFill>
                <a:latin typeface="Arial"/>
                <a:ea typeface="Arial"/>
                <a:cs typeface="Arial"/>
              </a:rPr>
              <a:t>Judges cannot read peer scores; aggregate results stay private until publication.</a:t>
            </a:r>
          </a:p>
        </p:txBody>
      </p:sp>
    </p:spTree>
    <p:extLst>
      <p:ext uri="{BB962C8B-B14F-4D97-AF65-F5344CB8AC3E}">
        <p14:creationId xmlns:p14="http://schemas.microsoft.com/office/powerpoint/2010/main" val="137987711"/>
      </p:ext>
    </p:extLst>
  </p:cSld>
</p:sld>
</file>

<file path=ppt/slides/slide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89ACF3B-F2DB-4FCE-B1D1-0311C2B0D8F4}"/>
              </a:ext>
            </a:extLst>
          </p:cNvPr>
          <p:cNvSpPr>
            <a:spLocks xmlns:a="http://schemas.openxmlformats.org/drawingml/2006/main" noGrp="1"/>
          </p:cNvSpPr>
          <p:nvPr/>
        </p:nvSpPr>
        <p:spPr>
          <a:xfrm xmlns:a="http://schemas.openxmlformats.org/drawingml/2006/main">
            <a:off x="723900" y="5143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41D"/>
                </a:solidFill>
                <a:latin typeface="Arial"/>
                <a:ea typeface="Arial"/>
                <a:cs typeface="Arial"/>
              </a:defRPr>
            </a:pPr>
            <a:r>
              <a:rPr sz="3600" b="1">
                <a:solidFill>
                  <a:srgbClr val="18241D"/>
                </a:solidFill>
                <a:latin typeface="Arial"/>
                <a:ea typeface="Arial"/>
                <a:cs typeface="Arial"/>
              </a:rPr>
              <a:t>Local first. Portable by design.</a:t>
            </a:r>
          </a:p>
        </p:txBody>
      </p:sp>
      <p:sp>
        <p:nvSpPr>
          <p:cNvPr id="2" name="">
            <a:extLst xmlns:a="http://schemas.openxmlformats.org/drawingml/2006/main">
              <a:ext uri="{FF2B5EF4-FFF2-40B4-BE49-F238E27FC236}">
                <a16:creationId xmlns:a16="http://schemas.microsoft.com/office/drawing/2014/main" id="{DEBE797F-CDF4-4559-ADAA-939B8CF06AB7}"/>
              </a:ext>
            </a:extLst>
          </p:cNvPr>
          <p:cNvSpPr>
            <a:spLocks xmlns:a="http://schemas.openxmlformats.org/drawingml/2006/main" noGrp="1"/>
          </p:cNvSpPr>
          <p:nvPr/>
        </p:nvSpPr>
        <p:spPr>
          <a:xfrm xmlns:a="http://schemas.openxmlformats.org/drawingml/2006/main">
            <a:off x="762000" y="1219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796F"/>
                </a:solidFill>
                <a:latin typeface="Arial"/>
                <a:ea typeface="Arial"/>
                <a:cs typeface="Arial"/>
              </a:defRPr>
            </a:pPr>
            <a:r>
              <a:rPr sz="1800" b="0">
                <a:solidFill>
                  <a:srgbClr val="74796F"/>
                </a:solidFill>
                <a:latin typeface="Arial"/>
                <a:ea typeface="Arial"/>
                <a:cs typeface="Arial"/>
              </a:rPr>
              <a:t>A single service with a small operational footprint.</a:t>
            </a:r>
          </a:p>
        </p:txBody>
      </p:sp>
      <p:sp>
        <p:nvSpPr>
          <p:cNvPr id="3" name="">
            <a:extLst xmlns:a="http://schemas.openxmlformats.org/drawingml/2006/main">
              <a:ext uri="{FF2B5EF4-FFF2-40B4-BE49-F238E27FC236}">
                <a16:creationId xmlns:a16="http://schemas.microsoft.com/office/drawing/2014/main" id="{07E44B6E-4240-46CF-ACAB-016F24437E61}"/>
              </a:ext>
            </a:extLst>
          </p:cNvPr>
          <p:cNvSpPr>
            <a:spLocks xmlns:a="http://schemas.openxmlformats.org/drawingml/2006/main" noGrp="1"/>
          </p:cNvSpPr>
          <p:nvPr/>
        </p:nvSpPr>
        <p:spPr>
          <a:xfrm xmlns:a="http://schemas.openxmlformats.org/drawingml/2006/main">
            <a:off x="838200" y="21240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3C"/>
                </a:solidFill>
                <a:latin typeface="Arial"/>
                <a:ea typeface="Arial"/>
                <a:cs typeface="Arial"/>
              </a:defRPr>
            </a:pPr>
            <a:r>
              <a:rPr sz="1350" b="1">
                <a:solidFill>
                  <a:srgbClr val="526D3C"/>
                </a:solidFill>
                <a:latin typeface="Arial"/>
                <a:ea typeface="Arial"/>
                <a:cs typeface="Arial"/>
              </a:rPr>
              <a:t>RUNTIME</a:t>
            </a:r>
          </a:p>
        </p:txBody>
      </p:sp>
      <p:sp>
        <p:nvSpPr>
          <p:cNvPr id="4" name="">
            <a:extLst xmlns:a="http://schemas.openxmlformats.org/drawingml/2006/main">
              <a:ext uri="{FF2B5EF4-FFF2-40B4-BE49-F238E27FC236}">
                <a16:creationId xmlns:a16="http://schemas.microsoft.com/office/drawing/2014/main" id="{D03B288B-D3DD-4866-887F-9E39DA75A5DA}"/>
              </a:ext>
            </a:extLst>
          </p:cNvPr>
          <p:cNvSpPr>
            <a:spLocks xmlns:a="http://schemas.openxmlformats.org/drawingml/2006/main" noGrp="1"/>
          </p:cNvSpPr>
          <p:nvPr/>
        </p:nvSpPr>
        <p:spPr>
          <a:xfrm xmlns:a="http://schemas.openxmlformats.org/drawingml/2006/main">
            <a:off x="3143250" y="208597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41D"/>
                </a:solidFill>
                <a:latin typeface="Arial"/>
                <a:ea typeface="Arial"/>
                <a:cs typeface="Arial"/>
              </a:defRPr>
            </a:pPr>
            <a:r>
              <a:rPr sz="2100" b="1">
                <a:solidFill>
                  <a:srgbClr val="18241D"/>
                </a:solidFill>
                <a:latin typeface="Arial"/>
                <a:ea typeface="Arial"/>
                <a:cs typeface="Arial"/>
              </a:rPr>
              <a:t>Python standard library + SQLite</a:t>
            </a:r>
          </a:p>
        </p:txBody>
      </p:sp>
      <p:sp>
        <p:nvSpPr>
          <p:cNvPr id="5" name="">
            <a:extLst xmlns:a="http://schemas.openxmlformats.org/drawingml/2006/main">
              <a:ext uri="{FF2B5EF4-FFF2-40B4-BE49-F238E27FC236}">
                <a16:creationId xmlns:a16="http://schemas.microsoft.com/office/drawing/2014/main" id="{67927F58-A9DB-4124-9C38-2F57FC090559}"/>
              </a:ext>
            </a:extLst>
          </p:cNvPr>
          <p:cNvSpPr>
            <a:spLocks xmlns:a="http://schemas.openxmlformats.org/drawingml/2006/main" noGrp="1"/>
          </p:cNvSpPr>
          <p:nvPr/>
        </p:nvSpPr>
        <p:spPr>
          <a:xfrm xmlns:a="http://schemas.openxmlformats.org/drawingml/2006/main">
            <a:off x="838200" y="2628900"/>
            <a:ext cx="1038225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AB738B3-E533-4078-B644-9AFBAB709E5B}"/>
              </a:ext>
            </a:extLst>
          </p:cNvPr>
          <p:cNvSpPr>
            <a:spLocks xmlns:a="http://schemas.openxmlformats.org/drawingml/2006/main" noGrp="1"/>
          </p:cNvSpPr>
          <p:nvPr/>
        </p:nvSpPr>
        <p:spPr>
          <a:xfrm xmlns:a="http://schemas.openxmlformats.org/drawingml/2006/main">
            <a:off x="838200" y="29051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3C"/>
                </a:solidFill>
                <a:latin typeface="Arial"/>
                <a:ea typeface="Arial"/>
                <a:cs typeface="Arial"/>
              </a:defRPr>
            </a:pPr>
            <a:r>
              <a:rPr sz="1350" b="1">
                <a:solidFill>
                  <a:srgbClr val="526D3C"/>
                </a:solidFill>
                <a:latin typeface="Arial"/>
                <a:ea typeface="Arial"/>
                <a:cs typeface="Arial"/>
              </a:rPr>
              <a:t>STARTUP</a:t>
            </a:r>
          </a:p>
        </p:txBody>
      </p:sp>
      <p:sp>
        <p:nvSpPr>
          <p:cNvPr id="7" name="">
            <a:extLst xmlns:a="http://schemas.openxmlformats.org/drawingml/2006/main">
              <a:ext uri="{FF2B5EF4-FFF2-40B4-BE49-F238E27FC236}">
                <a16:creationId xmlns:a16="http://schemas.microsoft.com/office/drawing/2014/main" id="{E536A9CF-8AC3-4468-89AA-A1074CB1B963}"/>
              </a:ext>
            </a:extLst>
          </p:cNvPr>
          <p:cNvSpPr>
            <a:spLocks xmlns:a="http://schemas.openxmlformats.org/drawingml/2006/main" noGrp="1"/>
          </p:cNvSpPr>
          <p:nvPr/>
        </p:nvSpPr>
        <p:spPr>
          <a:xfrm xmlns:a="http://schemas.openxmlformats.org/drawingml/2006/main">
            <a:off x="3143250" y="28670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41D"/>
                </a:solidFill>
                <a:latin typeface="Arial"/>
                <a:ea typeface="Arial"/>
                <a:cs typeface="Arial"/>
              </a:defRPr>
            </a:pPr>
            <a:r>
              <a:rPr sz="2100" b="1">
                <a:solidFill>
                  <a:srgbClr val="18241D"/>
                </a:solidFill>
                <a:latin typeface="Arial"/>
                <a:ea typeface="Arial"/>
                <a:cs typeface="Arial"/>
              </a:rPr>
              <a:t>docker compose up · one application service</a:t>
            </a:r>
          </a:p>
        </p:txBody>
      </p:sp>
      <p:sp>
        <p:nvSpPr>
          <p:cNvPr id="8" name="">
            <a:extLst xmlns:a="http://schemas.openxmlformats.org/drawingml/2006/main">
              <a:ext uri="{FF2B5EF4-FFF2-40B4-BE49-F238E27FC236}">
                <a16:creationId xmlns:a16="http://schemas.microsoft.com/office/drawing/2014/main" id="{C768AD15-39C0-43C7-8321-A8A75E7E61CB}"/>
              </a:ext>
            </a:extLst>
          </p:cNvPr>
          <p:cNvSpPr>
            <a:spLocks xmlns:a="http://schemas.openxmlformats.org/drawingml/2006/main" noGrp="1"/>
          </p:cNvSpPr>
          <p:nvPr/>
        </p:nvSpPr>
        <p:spPr>
          <a:xfrm xmlns:a="http://schemas.openxmlformats.org/drawingml/2006/main">
            <a:off x="838200" y="3409950"/>
            <a:ext cx="1038225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97678E-4A5D-4AB9-9211-94745BE9459B}"/>
              </a:ext>
            </a:extLst>
          </p:cNvPr>
          <p:cNvSpPr>
            <a:spLocks xmlns:a="http://schemas.openxmlformats.org/drawingml/2006/main" noGrp="1"/>
          </p:cNvSpPr>
          <p:nvPr/>
        </p:nvSpPr>
        <p:spPr>
          <a:xfrm xmlns:a="http://schemas.openxmlformats.org/drawingml/2006/main">
            <a:off x="838200" y="36861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3C"/>
                </a:solidFill>
                <a:latin typeface="Arial"/>
                <a:ea typeface="Arial"/>
                <a:cs typeface="Arial"/>
              </a:defRPr>
            </a:pPr>
            <a:r>
              <a:rPr sz="1350" b="1">
                <a:solidFill>
                  <a:srgbClr val="526D3C"/>
                </a:solidFill>
                <a:latin typeface="Arial"/>
                <a:ea typeface="Arial"/>
                <a:cs typeface="Arial"/>
              </a:rPr>
              <a:t>PERSISTENCE</a:t>
            </a:r>
          </a:p>
        </p:txBody>
      </p:sp>
      <p:sp>
        <p:nvSpPr>
          <p:cNvPr id="10" name="">
            <a:extLst xmlns:a="http://schemas.openxmlformats.org/drawingml/2006/main">
              <a:ext uri="{FF2B5EF4-FFF2-40B4-BE49-F238E27FC236}">
                <a16:creationId xmlns:a16="http://schemas.microsoft.com/office/drawing/2014/main" id="{39D6D003-A145-4F5C-AE4A-447A88808279}"/>
              </a:ext>
            </a:extLst>
          </p:cNvPr>
          <p:cNvSpPr>
            <a:spLocks xmlns:a="http://schemas.openxmlformats.org/drawingml/2006/main" noGrp="1"/>
          </p:cNvSpPr>
          <p:nvPr/>
        </p:nvSpPr>
        <p:spPr>
          <a:xfrm xmlns:a="http://schemas.openxmlformats.org/drawingml/2006/main">
            <a:off x="3143250" y="364807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41D"/>
                </a:solidFill>
                <a:latin typeface="Arial"/>
                <a:ea typeface="Arial"/>
                <a:cs typeface="Arial"/>
              </a:defRPr>
            </a:pPr>
            <a:r>
              <a:rPr sz="2100" b="1">
                <a:solidFill>
                  <a:srgbClr val="18241D"/>
                </a:solidFill>
                <a:latin typeface="Arial"/>
                <a:ea typeface="Arial"/>
                <a:cs typeface="Arial"/>
              </a:rPr>
              <a:t>Named database volume; non-root container</a:t>
            </a:r>
          </a:p>
        </p:txBody>
      </p:sp>
      <p:sp>
        <p:nvSpPr>
          <p:cNvPr id="11" name="">
            <a:extLst xmlns:a="http://schemas.openxmlformats.org/drawingml/2006/main">
              <a:ext uri="{FF2B5EF4-FFF2-40B4-BE49-F238E27FC236}">
                <a16:creationId xmlns:a16="http://schemas.microsoft.com/office/drawing/2014/main" id="{C41158F9-AAB8-4D86-9EB4-4AFE17734D85}"/>
              </a:ext>
            </a:extLst>
          </p:cNvPr>
          <p:cNvSpPr>
            <a:spLocks xmlns:a="http://schemas.openxmlformats.org/drawingml/2006/main" noGrp="1"/>
          </p:cNvSpPr>
          <p:nvPr/>
        </p:nvSpPr>
        <p:spPr>
          <a:xfrm xmlns:a="http://schemas.openxmlformats.org/drawingml/2006/main">
            <a:off x="838200" y="4191000"/>
            <a:ext cx="1038225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04311E8-E2E8-48DE-AAE1-247250AF98BC}"/>
              </a:ext>
            </a:extLst>
          </p:cNvPr>
          <p:cNvSpPr>
            <a:spLocks xmlns:a="http://schemas.openxmlformats.org/drawingml/2006/main" noGrp="1"/>
          </p:cNvSpPr>
          <p:nvPr/>
        </p:nvSpPr>
        <p:spPr>
          <a:xfrm xmlns:a="http://schemas.openxmlformats.org/drawingml/2006/main">
            <a:off x="838200" y="44672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3C"/>
                </a:solidFill>
                <a:latin typeface="Arial"/>
                <a:ea typeface="Arial"/>
                <a:cs typeface="Arial"/>
              </a:defRPr>
            </a:pPr>
            <a:r>
              <a:rPr sz="1350" b="1">
                <a:solidFill>
                  <a:srgbClr val="526D3C"/>
                </a:solidFill>
                <a:latin typeface="Arial"/>
                <a:ea typeface="Arial"/>
                <a:cs typeface="Arial"/>
              </a:rPr>
              <a:t>PORTABILITY</a:t>
            </a:r>
          </a:p>
        </p:txBody>
      </p:sp>
      <p:sp>
        <p:nvSpPr>
          <p:cNvPr id="13" name="">
            <a:extLst xmlns:a="http://schemas.openxmlformats.org/drawingml/2006/main">
              <a:ext uri="{FF2B5EF4-FFF2-40B4-BE49-F238E27FC236}">
                <a16:creationId xmlns:a16="http://schemas.microsoft.com/office/drawing/2014/main" id="{8CD15211-F984-44F9-A334-A0693A48C463}"/>
              </a:ext>
            </a:extLst>
          </p:cNvPr>
          <p:cNvSpPr>
            <a:spLocks xmlns:a="http://schemas.openxmlformats.org/drawingml/2006/main" noGrp="1"/>
          </p:cNvSpPr>
          <p:nvPr/>
        </p:nvSpPr>
        <p:spPr>
          <a:xfrm xmlns:a="http://schemas.openxmlformats.org/drawingml/2006/main">
            <a:off x="3143250" y="44291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41D"/>
                </a:solidFill>
                <a:latin typeface="Arial"/>
                <a:ea typeface="Arial"/>
                <a:cs typeface="Arial"/>
              </a:defRPr>
            </a:pPr>
            <a:r>
              <a:rPr sz="2100" b="1">
                <a:solidFill>
                  <a:srgbClr val="18241D"/>
                </a:solidFill>
                <a:latin typeface="Arial"/>
                <a:ea typeface="Arial"/>
                <a:cs typeface="Arial"/>
              </a:rPr>
              <a:t>CSV operations + importable JSON event archive</a:t>
            </a:r>
          </a:p>
        </p:txBody>
      </p:sp>
      <p:sp>
        <p:nvSpPr>
          <p:cNvPr id="14" name="">
            <a:extLst xmlns:a="http://schemas.openxmlformats.org/drawingml/2006/main">
              <a:ext uri="{FF2B5EF4-FFF2-40B4-BE49-F238E27FC236}">
                <a16:creationId xmlns:a16="http://schemas.microsoft.com/office/drawing/2014/main" id="{35D8EAD4-9D05-410D-AA3F-D6DDF57D6A9D}"/>
              </a:ext>
            </a:extLst>
          </p:cNvPr>
          <p:cNvSpPr>
            <a:spLocks xmlns:a="http://schemas.openxmlformats.org/drawingml/2006/main" noGrp="1"/>
          </p:cNvSpPr>
          <p:nvPr/>
        </p:nvSpPr>
        <p:spPr>
          <a:xfrm xmlns:a="http://schemas.openxmlformats.org/drawingml/2006/main">
            <a:off x="838200" y="4972050"/>
            <a:ext cx="1038225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000DA08-D0F3-451E-B29F-1A577FE7B4AE}"/>
              </a:ext>
            </a:extLst>
          </p:cNvPr>
          <p:cNvSpPr>
            <a:spLocks xmlns:a="http://schemas.openxmlformats.org/drawingml/2006/main" noGrp="1"/>
          </p:cNvSpPr>
          <p:nvPr/>
        </p:nvSpPr>
        <p:spPr>
          <a:xfrm xmlns:a="http://schemas.openxmlformats.org/drawingml/2006/main">
            <a:off x="838200" y="5429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41D"/>
                </a:solidFill>
                <a:latin typeface="Arial"/>
                <a:ea typeface="Arial"/>
                <a:cs typeface="Arial"/>
              </a:defRPr>
            </a:pPr>
            <a:r>
              <a:rPr sz="1650" b="0">
                <a:solidFill>
                  <a:srgbClr val="18241D"/>
                </a:solidFill>
                <a:latin typeface="Arial"/>
                <a:ea typeface="Arial"/>
                <a:cs typeface="Arial"/>
              </a:rPr>
              <a:t>No hosted database, identity provider or external API is needed by the portal.</a:t>
            </a:r>
          </a:p>
        </p:txBody>
      </p:sp>
      <p:sp>
        <p:nvSpPr>
          <p:cNvPr id="16" name="">
            <a:extLst xmlns:a="http://schemas.openxmlformats.org/drawingml/2006/main">
              <a:ext uri="{FF2B5EF4-FFF2-40B4-BE49-F238E27FC236}">
                <a16:creationId xmlns:a16="http://schemas.microsoft.com/office/drawing/2014/main" id="{2B90A1D1-A5D9-4C6F-899C-6E2C3989B6BE}"/>
              </a:ext>
            </a:extLst>
          </p:cNvPr>
          <p:cNvSpPr>
            <a:spLocks xmlns:a="http://schemas.openxmlformats.org/drawingml/2006/main" noGrp="1"/>
          </p:cNvSpPr>
          <p:nvPr/>
        </p:nvSpPr>
        <p:spPr>
          <a:xfrm xmlns:a="http://schemas.openxmlformats.org/drawingml/2006/main">
            <a:off x="838200" y="60293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7734C"/>
                </a:solidFill>
                <a:latin typeface="Arial"/>
                <a:ea typeface="Arial"/>
                <a:cs typeface="Arial"/>
              </a:defRPr>
            </a:pPr>
            <a:r>
              <a:rPr sz="1275" b="0">
                <a:solidFill>
                  <a:srgbClr val="C7734C"/>
                </a:solidFill>
                <a:latin typeface="Arial"/>
                <a:ea typeface="Arial"/>
                <a:cs typeface="Arial"/>
              </a:rPr>
              <a:t>Compose is included; Docker was unavailable on the build machine, so this launch path remains unverified here.</a:t>
            </a:r>
          </a:p>
        </p:txBody>
      </p:sp>
    </p:spTree>
    <p:extLst>
      <p:ext uri="{BB962C8B-B14F-4D97-AF65-F5344CB8AC3E}">
        <p14:creationId xmlns:p14="http://schemas.microsoft.com/office/powerpoint/2010/main" val="1984389141"/>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C8F5D2F-55E7-43BE-9F02-8DF1E291D07D}"/>
              </a:ext>
            </a:extLst>
          </p:cNvPr>
          <p:cNvSpPr>
            <a:spLocks xmlns:a="http://schemas.openxmlformats.org/drawingml/2006/main" noGrp="1"/>
          </p:cNvSpPr>
          <p:nvPr/>
        </p:nvSpPr>
        <p:spPr>
          <a:xfrm xmlns:a="http://schemas.openxmlformats.org/drawingml/2006/main">
            <a:off x="0" y="0"/>
            <a:ext cx="4191000" cy="6858000"/>
          </a:xfrm>
          <a:prstGeom xmlns:a="http://schemas.openxmlformats.org/drawingml/2006/main" prst="rect">
            <a:avLst/>
          </a:prstGeom>
          <a:solidFill xmlns:a="http://schemas.openxmlformats.org/drawingml/2006/main">
            <a:srgbClr val="15231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3FF207-FD11-4097-B267-E74B95C12443}"/>
              </a:ext>
            </a:extLst>
          </p:cNvPr>
          <p:cNvSpPr>
            <a:spLocks xmlns:a="http://schemas.openxmlformats.org/drawingml/2006/main" noGrp="1"/>
          </p:cNvSpPr>
          <p:nvPr/>
        </p:nvSpPr>
        <p:spPr>
          <a:xfrm xmlns:a="http://schemas.openxmlformats.org/drawingml/2006/main">
            <a:off x="685800" y="666750"/>
            <a:ext cx="314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EFA"/>
                </a:solidFill>
                <a:latin typeface="Arial"/>
                <a:ea typeface="Arial"/>
                <a:cs typeface="Arial"/>
              </a:defRPr>
            </a:pPr>
            <a:r>
              <a:rPr sz="3600" b="1">
                <a:solidFill>
                  <a:srgbClr val="FFFEFA"/>
                </a:solidFill>
                <a:latin typeface="Arial"/>
                <a:ea typeface="Arial"/>
                <a:cs typeface="Arial"/>
              </a:rPr>
              <a:t>Acceptance</a:t>
            </a:r>
          </a:p>
          <a:p xmlns:a="http://schemas.openxmlformats.org/drawingml/2006/main">
            <a:pPr>
              <a:defRPr sz="3600" b="1">
                <a:solidFill>
                  <a:srgbClr val="FFFEFA"/>
                </a:solidFill>
                <a:latin typeface="Arial"/>
                <a:ea typeface="Arial"/>
                <a:cs typeface="Arial"/>
              </a:defRPr>
            </a:pPr>
            <a:r>
              <a:rPr sz="3600" b="1">
                <a:solidFill>
                  <a:srgbClr val="FFFEFA"/>
                </a:solidFill>
                <a:latin typeface="Arial"/>
                <a:ea typeface="Arial"/>
                <a:cs typeface="Arial"/>
              </a:rPr>
              <a:t>report</a:t>
            </a:r>
          </a:p>
        </p:txBody>
      </p:sp>
      <p:sp>
        <p:nvSpPr>
          <p:cNvPr id="3" name="">
            <a:extLst xmlns:a="http://schemas.openxmlformats.org/drawingml/2006/main">
              <a:ext uri="{FF2B5EF4-FFF2-40B4-BE49-F238E27FC236}">
                <a16:creationId xmlns:a16="http://schemas.microsoft.com/office/drawing/2014/main" id="{06CC0FDF-059C-404E-A7B0-235EBE0C1846}"/>
              </a:ext>
            </a:extLst>
          </p:cNvPr>
          <p:cNvSpPr>
            <a:spLocks xmlns:a="http://schemas.openxmlformats.org/drawingml/2006/main" noGrp="1"/>
          </p:cNvSpPr>
          <p:nvPr/>
        </p:nvSpPr>
        <p:spPr>
          <a:xfrm xmlns:a="http://schemas.openxmlformats.org/drawingml/2006/main">
            <a:off x="685800" y="241935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B9D993"/>
                </a:solidFill>
                <a:latin typeface="Arial"/>
                <a:ea typeface="Arial"/>
                <a:cs typeface="Arial"/>
              </a:defRPr>
            </a:pPr>
            <a:r>
              <a:rPr sz="6150" b="1">
                <a:solidFill>
                  <a:srgbClr val="B9D993"/>
                </a:solidFill>
                <a:latin typeface="Arial"/>
                <a:ea typeface="Arial"/>
                <a:cs typeface="Arial"/>
              </a:rPr>
              <a:t>7 / 7</a:t>
            </a:r>
          </a:p>
        </p:txBody>
      </p:sp>
      <p:sp>
        <p:nvSpPr>
          <p:cNvPr id="4" name="">
            <a:extLst xmlns:a="http://schemas.openxmlformats.org/drawingml/2006/main">
              <a:ext uri="{FF2B5EF4-FFF2-40B4-BE49-F238E27FC236}">
                <a16:creationId xmlns:a16="http://schemas.microsoft.com/office/drawing/2014/main" id="{C9E969A1-A6D6-4AD2-8AFD-629E462CB6B1}"/>
              </a:ext>
            </a:extLst>
          </p:cNvPr>
          <p:cNvSpPr>
            <a:spLocks xmlns:a="http://schemas.openxmlformats.org/drawingml/2006/main" noGrp="1"/>
          </p:cNvSpPr>
          <p:nvPr/>
        </p:nvSpPr>
        <p:spPr>
          <a:xfrm xmlns:a="http://schemas.openxmlformats.org/drawingml/2006/main">
            <a:off x="723900" y="36195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EFA"/>
                </a:solidFill>
                <a:latin typeface="Arial"/>
                <a:ea typeface="Arial"/>
                <a:cs typeface="Arial"/>
              </a:defRPr>
            </a:pPr>
            <a:r>
              <a:rPr sz="1950" b="1">
                <a:solidFill>
                  <a:srgbClr val="FFFEFA"/>
                </a:solidFill>
                <a:latin typeface="Arial"/>
                <a:ea typeface="Arial"/>
                <a:cs typeface="Arial"/>
              </a:rPr>
              <a:t>official T1 + T2 checks passed</a:t>
            </a:r>
          </a:p>
        </p:txBody>
      </p:sp>
      <p:sp>
        <p:nvSpPr>
          <p:cNvPr id="5" name="">
            <a:extLst xmlns:a="http://schemas.openxmlformats.org/drawingml/2006/main">
              <a:ext uri="{FF2B5EF4-FFF2-40B4-BE49-F238E27FC236}">
                <a16:creationId xmlns:a16="http://schemas.microsoft.com/office/drawing/2014/main" id="{38846238-F86B-4D68-91FF-26A789E66E51}"/>
              </a:ext>
            </a:extLst>
          </p:cNvPr>
          <p:cNvSpPr>
            <a:spLocks xmlns:a="http://schemas.openxmlformats.org/drawingml/2006/main" noGrp="1"/>
          </p:cNvSpPr>
          <p:nvPr/>
        </p:nvSpPr>
        <p:spPr>
          <a:xfrm xmlns:a="http://schemas.openxmlformats.org/drawingml/2006/main">
            <a:off x="723900" y="500062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2DBD0"/>
                </a:solidFill>
                <a:latin typeface="Arial"/>
                <a:ea typeface="Arial"/>
                <a:cs typeface="Arial"/>
              </a:defRPr>
            </a:pPr>
            <a:r>
              <a:rPr sz="1650" b="0">
                <a:solidFill>
                  <a:srgbClr val="D2DBD0"/>
                </a:solidFill>
                <a:latin typeface="Arial"/>
                <a:ea typeface="Arial"/>
                <a:cs typeface="Arial"/>
              </a:rPr>
              <a:t>Claimed tiers: T1, T2</a:t>
            </a:r>
          </a:p>
          <a:p xmlns:a="http://schemas.openxmlformats.org/drawingml/2006/main">
            <a:pPr>
              <a:defRPr sz="1650" b="0">
                <a:solidFill>
                  <a:srgbClr val="D2DBD0"/>
                </a:solidFill>
                <a:latin typeface="Arial"/>
                <a:ea typeface="Arial"/>
                <a:cs typeface="Arial"/>
              </a:defRPr>
            </a:pPr>
            <a:r>
              <a:rPr sz="1650" b="0">
                <a:solidFill>
                  <a:srgbClr val="D2DBD0"/>
                </a:solidFill>
                <a:latin typeface="Arial"/>
                <a:ea typeface="Arial"/>
                <a:cs typeface="Arial"/>
              </a:rPr>
              <a:t>T3 and T4 are not claimed.</a:t>
            </a:r>
          </a:p>
        </p:txBody>
      </p:sp>
      <p:sp>
        <p:nvSpPr>
          <p:cNvPr id="6" name="">
            <a:extLst xmlns:a="http://schemas.openxmlformats.org/drawingml/2006/main">
              <a:ext uri="{FF2B5EF4-FFF2-40B4-BE49-F238E27FC236}">
                <a16:creationId xmlns:a16="http://schemas.microsoft.com/office/drawing/2014/main" id="{0DE25870-FB7D-4E28-AF35-BF1E648F0AB8}"/>
              </a:ext>
            </a:extLst>
          </p:cNvPr>
          <p:cNvSpPr>
            <a:spLocks xmlns:a="http://schemas.openxmlformats.org/drawingml/2006/main" noGrp="1"/>
          </p:cNvSpPr>
          <p:nvPr/>
        </p:nvSpPr>
        <p:spPr>
          <a:xfrm xmlns:a="http://schemas.openxmlformats.org/drawingml/2006/main">
            <a:off x="4762500" y="895350"/>
            <a:ext cx="895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26D3C"/>
                </a:solidFill>
                <a:latin typeface="Arial"/>
                <a:ea typeface="Arial"/>
                <a:cs typeface="Arial"/>
              </a:defRPr>
            </a:pPr>
            <a:r>
              <a:rPr sz="2100" b="1">
                <a:solidFill>
                  <a:srgbClr val="526D3C"/>
                </a:solidFill>
                <a:latin typeface="Arial"/>
                <a:ea typeface="Arial"/>
                <a:cs typeface="Arial"/>
              </a:rPr>
              <a:t>T1</a:t>
            </a:r>
          </a:p>
        </p:txBody>
      </p:sp>
      <p:sp>
        <p:nvSpPr>
          <p:cNvPr id="7" name="">
            <a:extLst xmlns:a="http://schemas.openxmlformats.org/drawingml/2006/main">
              <a:ext uri="{FF2B5EF4-FFF2-40B4-BE49-F238E27FC236}">
                <a16:creationId xmlns:a16="http://schemas.microsoft.com/office/drawing/2014/main" id="{5F89C5AE-214D-4FAF-86E3-FBB31505B817}"/>
              </a:ext>
            </a:extLst>
          </p:cNvPr>
          <p:cNvSpPr>
            <a:spLocks xmlns:a="http://schemas.openxmlformats.org/drawingml/2006/main" noGrp="1"/>
          </p:cNvSpPr>
          <p:nvPr/>
        </p:nvSpPr>
        <p:spPr>
          <a:xfrm xmlns:a="http://schemas.openxmlformats.org/drawingml/2006/main">
            <a:off x="5905500" y="8953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41D"/>
                </a:solidFill>
                <a:latin typeface="Arial"/>
                <a:ea typeface="Arial"/>
                <a:cs typeface="Arial"/>
              </a:defRPr>
            </a:pPr>
            <a:r>
              <a:rPr sz="1875" b="1">
                <a:solidFill>
                  <a:srgbClr val="18241D"/>
                </a:solidFill>
                <a:latin typeface="Arial"/>
                <a:ea typeface="Arial"/>
                <a:cs typeface="Arial"/>
              </a:rPr>
              <a:t>Public gallery</a:t>
            </a:r>
          </a:p>
        </p:txBody>
      </p:sp>
      <p:sp>
        <p:nvSpPr>
          <p:cNvPr id="8" name="">
            <a:extLst xmlns:a="http://schemas.openxmlformats.org/drawingml/2006/main">
              <a:ext uri="{FF2B5EF4-FFF2-40B4-BE49-F238E27FC236}">
                <a16:creationId xmlns:a16="http://schemas.microsoft.com/office/drawing/2014/main" id="{8D3A3EA1-70A4-49B7-9D77-F1DA1DD4DA3D}"/>
              </a:ext>
            </a:extLst>
          </p:cNvPr>
          <p:cNvSpPr>
            <a:spLocks xmlns:a="http://schemas.openxmlformats.org/drawingml/2006/main" noGrp="1"/>
          </p:cNvSpPr>
          <p:nvPr/>
        </p:nvSpPr>
        <p:spPr>
          <a:xfrm xmlns:a="http://schemas.openxmlformats.org/drawingml/2006/main">
            <a:off x="5905500" y="13525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4796F"/>
                </a:solidFill>
                <a:latin typeface="Arial"/>
                <a:ea typeface="Arial"/>
                <a:cs typeface="Arial"/>
              </a:defRPr>
            </a:pPr>
            <a:r>
              <a:rPr sz="1650" b="0">
                <a:solidFill>
                  <a:srgbClr val="74796F"/>
                </a:solidFill>
                <a:latin typeface="Arial"/>
                <a:ea typeface="Arial"/>
                <a:cs typeface="Arial"/>
              </a:rPr>
              <a:t>Fixture project visible</a:t>
            </a:r>
          </a:p>
        </p:txBody>
      </p:sp>
      <p:sp>
        <p:nvSpPr>
          <p:cNvPr id="9" name="">
            <a:extLst xmlns:a="http://schemas.openxmlformats.org/drawingml/2006/main">
              <a:ext uri="{FF2B5EF4-FFF2-40B4-BE49-F238E27FC236}">
                <a16:creationId xmlns:a16="http://schemas.microsoft.com/office/drawing/2014/main" id="{47BE8575-1B8E-4BC2-A751-61261C7DEAAE}"/>
              </a:ext>
            </a:extLst>
          </p:cNvPr>
          <p:cNvSpPr>
            <a:spLocks xmlns:a="http://schemas.openxmlformats.org/drawingml/2006/main" noGrp="1"/>
          </p:cNvSpPr>
          <p:nvPr/>
        </p:nvSpPr>
        <p:spPr>
          <a:xfrm xmlns:a="http://schemas.openxmlformats.org/drawingml/2006/main">
            <a:off x="5905500" y="17526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4796F"/>
                </a:solidFill>
                <a:latin typeface="Arial"/>
                <a:ea typeface="Arial"/>
                <a:cs typeface="Arial"/>
              </a:defRPr>
            </a:pPr>
            <a:r>
              <a:rPr sz="1650" b="0">
                <a:solidFill>
                  <a:srgbClr val="74796F"/>
                </a:solidFill>
                <a:latin typeface="Arial"/>
                <a:ea typeface="Arial"/>
                <a:cs typeface="Arial"/>
              </a:rPr>
              <a:t>Closed submission refused</a:t>
            </a:r>
          </a:p>
        </p:txBody>
      </p:sp>
      <p:sp>
        <p:nvSpPr>
          <p:cNvPr id="10" name="">
            <a:extLst xmlns:a="http://schemas.openxmlformats.org/drawingml/2006/main">
              <a:ext uri="{FF2B5EF4-FFF2-40B4-BE49-F238E27FC236}">
                <a16:creationId xmlns:a16="http://schemas.microsoft.com/office/drawing/2014/main" id="{967A87F5-0797-4C6D-8779-8B7832F65800}"/>
              </a:ext>
            </a:extLst>
          </p:cNvPr>
          <p:cNvSpPr>
            <a:spLocks xmlns:a="http://schemas.openxmlformats.org/drawingml/2006/main" noGrp="1"/>
          </p:cNvSpPr>
          <p:nvPr/>
        </p:nvSpPr>
        <p:spPr>
          <a:xfrm xmlns:a="http://schemas.openxmlformats.org/drawingml/2006/main">
            <a:off x="4762500" y="2247900"/>
            <a:ext cx="619125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BBAD13D-EA22-4F68-AEBC-C29EB7E302FC}"/>
              </a:ext>
            </a:extLst>
          </p:cNvPr>
          <p:cNvSpPr>
            <a:spLocks xmlns:a="http://schemas.openxmlformats.org/drawingml/2006/main" noGrp="1"/>
          </p:cNvSpPr>
          <p:nvPr/>
        </p:nvSpPr>
        <p:spPr>
          <a:xfrm xmlns:a="http://schemas.openxmlformats.org/drawingml/2006/main">
            <a:off x="4762500" y="2581275"/>
            <a:ext cx="895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26D3C"/>
                </a:solidFill>
                <a:latin typeface="Arial"/>
                <a:ea typeface="Arial"/>
                <a:cs typeface="Arial"/>
              </a:defRPr>
            </a:pPr>
            <a:r>
              <a:rPr sz="2100" b="1">
                <a:solidFill>
                  <a:srgbClr val="526D3C"/>
                </a:solidFill>
                <a:latin typeface="Arial"/>
                <a:ea typeface="Arial"/>
                <a:cs typeface="Arial"/>
              </a:rPr>
              <a:t>T2</a:t>
            </a:r>
          </a:p>
        </p:txBody>
      </p:sp>
      <p:sp>
        <p:nvSpPr>
          <p:cNvPr id="12" name="">
            <a:extLst xmlns:a="http://schemas.openxmlformats.org/drawingml/2006/main">
              <a:ext uri="{FF2B5EF4-FFF2-40B4-BE49-F238E27FC236}">
                <a16:creationId xmlns:a16="http://schemas.microsoft.com/office/drawing/2014/main" id="{DC24A682-1D28-4E15-BF37-B6CA71DA2CAC}"/>
              </a:ext>
            </a:extLst>
          </p:cNvPr>
          <p:cNvSpPr>
            <a:spLocks xmlns:a="http://schemas.openxmlformats.org/drawingml/2006/main" noGrp="1"/>
          </p:cNvSpPr>
          <p:nvPr/>
        </p:nvSpPr>
        <p:spPr>
          <a:xfrm xmlns:a="http://schemas.openxmlformats.org/drawingml/2006/main">
            <a:off x="5905500" y="25812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41D"/>
                </a:solidFill>
                <a:latin typeface="Arial"/>
                <a:ea typeface="Arial"/>
                <a:cs typeface="Arial"/>
              </a:defRPr>
            </a:pPr>
            <a:r>
              <a:rPr sz="1650" b="0">
                <a:solidFill>
                  <a:srgbClr val="18241D"/>
                </a:solidFill>
                <a:latin typeface="Arial"/>
                <a:ea typeface="Arial"/>
                <a:cs typeface="Arial"/>
              </a:rPr>
              <a:t>Own judge scores allowed</a:t>
            </a:r>
          </a:p>
        </p:txBody>
      </p:sp>
      <p:sp>
        <p:nvSpPr>
          <p:cNvPr id="13" name="">
            <a:extLst xmlns:a="http://schemas.openxmlformats.org/drawingml/2006/main">
              <a:ext uri="{FF2B5EF4-FFF2-40B4-BE49-F238E27FC236}">
                <a16:creationId xmlns:a16="http://schemas.microsoft.com/office/drawing/2014/main" id="{2796C9A6-E82A-4230-A93B-99FE6F61B096}"/>
              </a:ext>
            </a:extLst>
          </p:cNvPr>
          <p:cNvSpPr>
            <a:spLocks xmlns:a="http://schemas.openxmlformats.org/drawingml/2006/main" noGrp="1"/>
          </p:cNvSpPr>
          <p:nvPr/>
        </p:nvSpPr>
        <p:spPr>
          <a:xfrm xmlns:a="http://schemas.openxmlformats.org/drawingml/2006/main">
            <a:off x="5905500" y="29813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41D"/>
                </a:solidFill>
                <a:latin typeface="Arial"/>
                <a:ea typeface="Arial"/>
                <a:cs typeface="Arial"/>
              </a:defRPr>
            </a:pPr>
            <a:r>
              <a:rPr sz="1650" b="0">
                <a:solidFill>
                  <a:srgbClr val="18241D"/>
                </a:solidFill>
                <a:latin typeface="Arial"/>
                <a:ea typeface="Arial"/>
                <a:cs typeface="Arial"/>
              </a:rPr>
              <a:t>Peer scores and participant access blocked</a:t>
            </a:r>
          </a:p>
        </p:txBody>
      </p:sp>
      <p:sp>
        <p:nvSpPr>
          <p:cNvPr id="14" name="">
            <a:extLst xmlns:a="http://schemas.openxmlformats.org/drawingml/2006/main">
              <a:ext uri="{FF2B5EF4-FFF2-40B4-BE49-F238E27FC236}">
                <a16:creationId xmlns:a16="http://schemas.microsoft.com/office/drawing/2014/main" id="{83B71E50-662D-47F0-A54E-A0B48DDA383B}"/>
              </a:ext>
            </a:extLst>
          </p:cNvPr>
          <p:cNvSpPr>
            <a:spLocks xmlns:a="http://schemas.openxmlformats.org/drawingml/2006/main" noGrp="1"/>
          </p:cNvSpPr>
          <p:nvPr/>
        </p:nvSpPr>
        <p:spPr>
          <a:xfrm xmlns:a="http://schemas.openxmlformats.org/drawingml/2006/main">
            <a:off x="5905500" y="33813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41D"/>
                </a:solidFill>
                <a:latin typeface="Arial"/>
                <a:ea typeface="Arial"/>
                <a:cs typeface="Arial"/>
              </a:defRPr>
            </a:pPr>
            <a:r>
              <a:rPr sz="1650" b="0">
                <a:solidFill>
                  <a:srgbClr val="18241D"/>
                </a:solidFill>
                <a:latin typeface="Arial"/>
                <a:ea typeface="Arial"/>
                <a:cs typeface="Arial"/>
              </a:rPr>
              <a:t>Organizer CSV export</a:t>
            </a:r>
          </a:p>
        </p:txBody>
      </p:sp>
      <p:sp>
        <p:nvSpPr>
          <p:cNvPr id="15" name="">
            <a:extLst xmlns:a="http://schemas.openxmlformats.org/drawingml/2006/main">
              <a:ext uri="{FF2B5EF4-FFF2-40B4-BE49-F238E27FC236}">
                <a16:creationId xmlns:a16="http://schemas.microsoft.com/office/drawing/2014/main" id="{320FF3D8-C6AF-45B9-9EE4-ACF22E2CFC56}"/>
              </a:ext>
            </a:extLst>
          </p:cNvPr>
          <p:cNvSpPr>
            <a:spLocks xmlns:a="http://schemas.openxmlformats.org/drawingml/2006/main" noGrp="1"/>
          </p:cNvSpPr>
          <p:nvPr/>
        </p:nvSpPr>
        <p:spPr>
          <a:xfrm xmlns:a="http://schemas.openxmlformats.org/drawingml/2006/main">
            <a:off x="4762500" y="3943350"/>
            <a:ext cx="6191250" cy="9525"/>
          </a:xfrm>
          <a:prstGeom xmlns:a="http://schemas.openxmlformats.org/drawingml/2006/main" prst="rect">
            <a:avLst/>
          </a:prstGeom>
          <a:solidFill xmlns:a="http://schemas.openxmlformats.org/drawingml/2006/main">
            <a:srgbClr val="D9D9C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B638B4F-6E34-46BB-A2F8-52FAABE8E7E7}"/>
              </a:ext>
            </a:extLst>
          </p:cNvPr>
          <p:cNvSpPr>
            <a:spLocks xmlns:a="http://schemas.openxmlformats.org/drawingml/2006/main" noGrp="1"/>
          </p:cNvSpPr>
          <p:nvPr/>
        </p:nvSpPr>
        <p:spPr>
          <a:xfrm xmlns:a="http://schemas.openxmlformats.org/drawingml/2006/main">
            <a:off x="4762500" y="430530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41D"/>
                </a:solidFill>
                <a:latin typeface="Arial"/>
                <a:ea typeface="Arial"/>
                <a:cs typeface="Arial"/>
              </a:defRPr>
            </a:pPr>
            <a:r>
              <a:rPr sz="1875" b="1">
                <a:solidFill>
                  <a:srgbClr val="18241D"/>
                </a:solidFill>
                <a:latin typeface="Arial"/>
                <a:ea typeface="Arial"/>
                <a:cs typeface="Arial"/>
              </a:rPr>
              <a:t>Public source</a:t>
            </a:r>
          </a:p>
        </p:txBody>
      </p:sp>
      <p:sp>
        <p:nvSpPr>
          <p:cNvPr id="17" name="">
            <a:extLst xmlns:a="http://schemas.openxmlformats.org/drawingml/2006/main">
              <a:ext uri="{FF2B5EF4-FFF2-40B4-BE49-F238E27FC236}">
                <a16:creationId xmlns:a16="http://schemas.microsoft.com/office/drawing/2014/main" id="{16AB311B-14DE-4740-880E-C02796625FC6}"/>
              </a:ext>
            </a:extLst>
          </p:cNvPr>
          <p:cNvSpPr>
            <a:spLocks xmlns:a="http://schemas.openxmlformats.org/drawingml/2006/main" noGrp="1"/>
          </p:cNvSpPr>
          <p:nvPr/>
        </p:nvSpPr>
        <p:spPr>
          <a:xfrm xmlns:a="http://schemas.openxmlformats.org/drawingml/2006/main">
            <a:off x="4762500" y="4810125"/>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26D3C"/>
                </a:solidFill>
                <a:latin typeface="Arial"/>
                <a:ea typeface="Arial"/>
                <a:cs typeface="Arial"/>
              </a:defRPr>
            </a:pPr>
            <a:r>
              <a:rPr sz="1500" b="1">
                <a:solidFill>
                  <a:srgbClr val="526D3C"/>
                </a:solidFill>
                <a:latin typeface="Arial"/>
                <a:ea typeface="Arial"/>
                <a:cs typeface="Arial"/>
              </a:rPr>
              <a:t>github.com/Shivaani-spec/dogfood-2026-fieldnote</a:t>
            </a:r>
          </a:p>
        </p:txBody>
      </p:sp>
      <p:sp>
        <p:nvSpPr>
          <p:cNvPr id="18" name="">
            <a:extLst xmlns:a="http://schemas.openxmlformats.org/drawingml/2006/main">
              <a:ext uri="{FF2B5EF4-FFF2-40B4-BE49-F238E27FC236}">
                <a16:creationId xmlns:a16="http://schemas.microsoft.com/office/drawing/2014/main" id="{B57883CB-8346-4E8C-9719-E9F323BE31B7}"/>
              </a:ext>
            </a:extLst>
          </p:cNvPr>
          <p:cNvSpPr>
            <a:spLocks xmlns:a="http://schemas.openxmlformats.org/drawingml/2006/main" noGrp="1"/>
          </p:cNvSpPr>
          <p:nvPr/>
        </p:nvSpPr>
        <p:spPr>
          <a:xfrm xmlns:a="http://schemas.openxmlformats.org/drawingml/2006/main">
            <a:off x="4762500" y="54578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4796F"/>
                </a:solidFill>
                <a:latin typeface="Arial"/>
                <a:ea typeface="Arial"/>
                <a:cs typeface="Arial"/>
              </a:defRPr>
            </a:pPr>
            <a:r>
              <a:rPr sz="1500" b="0">
                <a:solidFill>
                  <a:srgbClr val="74796F"/>
                </a:solidFill>
                <a:latin typeface="Arial"/>
                <a:ea typeface="Arial"/>
                <a:cs typeface="Arial"/>
              </a:rPr>
              <a:t>MIT · acceptance-report.txt committed</a:t>
            </a:r>
          </a:p>
        </p:txBody>
      </p:sp>
      <p:sp>
        <p:nvSpPr>
          <p:cNvPr id="19" name="">
            <a:extLst xmlns:a="http://schemas.openxmlformats.org/drawingml/2006/main">
              <a:ext uri="{FF2B5EF4-FFF2-40B4-BE49-F238E27FC236}">
                <a16:creationId xmlns:a16="http://schemas.microsoft.com/office/drawing/2014/main" id="{D2D6F180-B504-49BD-92F3-B873D889308D}"/>
              </a:ext>
            </a:extLst>
          </p:cNvPr>
          <p:cNvSpPr>
            <a:spLocks xmlns:a="http://schemas.openxmlformats.org/drawingml/2006/main" noGrp="1"/>
          </p:cNvSpPr>
          <p:nvPr/>
        </p:nvSpPr>
        <p:spPr>
          <a:xfrm xmlns:a="http://schemas.openxmlformats.org/drawingml/2006/main">
            <a:off x="4762500" y="61912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4796F"/>
                </a:solidFill>
                <a:latin typeface="Arial"/>
                <a:ea typeface="Arial"/>
                <a:cs typeface="Arial"/>
              </a:defRPr>
            </a:pPr>
            <a:r>
              <a:rPr sz="1350" b="0">
                <a:solidFill>
                  <a:srgbClr val="74796F"/>
                </a:solidFill>
                <a:latin typeface="Arial"/>
                <a:ea typeface="Arial"/>
                <a:cs typeface="Arial"/>
              </a:rPr>
              <a:t>Verified with the official standard-library checker.</a:t>
            </a:r>
          </a:p>
        </p:txBody>
      </p:sp>
    </p:spTree>
    <p:extLst>
      <p:ext uri="{BB962C8B-B14F-4D97-AF65-F5344CB8AC3E}">
        <p14:creationId xmlns:p14="http://schemas.microsoft.com/office/powerpoint/2010/main" val="1732654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2026-09-28T03:40:28.8450000Z</dcterms:created>
  <dcterms:modified xsi:type="dcterms:W3CDTF">2026-09-28T03:40:28.8450000Z</dcterms:modified>
</coreProperties>
</file>